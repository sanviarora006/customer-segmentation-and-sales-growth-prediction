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5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6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 Values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B3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  <c:pt idx="4">
                    <c:v>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</c:v>
                </c:pt>
                <c:pt idx="1">
                  <c:v>47</c:v>
                </c:pt>
                <c:pt idx="2">
                  <c:v>61</c:v>
                </c:pt>
                <c:pt idx="3">
                  <c:v>35</c:v>
                </c:pt>
                <c:pt idx="4">
                  <c:v>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B3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B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B3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B34"/>
                </a:solidFill>
                <a:latin typeface="Arial"/>
              </a:rPr>
              <a:t>Elbow Method — Inertia vs. k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Inertia</c:v>
                </c:pt>
              </c:strCache>
            </c:strRef>
          </c:tx>
          <c:spPr>
            <a:solidFill>
              <a:srgbClr val="028090"/>
            </a:solidFill>
            <a:ln w="3175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16912</c:v>
                </c:pt>
                <c:pt idx="1">
                  <c:v>9705</c:v>
                </c:pt>
                <c:pt idx="2">
                  <c:v>7378</c:v>
                </c:pt>
                <c:pt idx="3">
                  <c:v>5491</c:v>
                </c:pt>
                <c:pt idx="4">
                  <c:v>4747</c:v>
                </c:pt>
                <c:pt idx="5">
                  <c:v>4030</c:v>
                </c:pt>
                <c:pt idx="6">
                  <c:v>3685</c:v>
                </c:pt>
                <c:pt idx="7">
                  <c:v>3351</c:v>
                </c:pt>
                <c:pt idx="8">
                  <c:v>3060</c:v>
                </c:pt>
                <c:pt idx="9">
                  <c:v>2841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Number of Clusters (k)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B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Inertia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 Value Customer</c:v>
                </c:pt>
              </c:strCache>
            </c:strRef>
          </c:tx>
          <c:spPr>
            <a:solidFill>
              <a:srgbClr val="F76C6C"/>
            </a:solidFill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F76C6C"/>
              </a:solidFill>
              <a:ln w="9525" cap="flat">
                <a:solidFill>
                  <a:srgbClr val="F76C6C"/>
                </a:solidFill>
                <a:prstDash val="solid"/>
                <a:round/>
              </a:ln>
              <a:effectLst/>
            </c:spPr>
          </c:marker>
          <c:xVal>
            <c:numRef>
              <c:f>Sheet1!$A$2:$A$131</c:f>
              <c:numCache>
                <c:formatCode>General</c:formatCode>
                <c:ptCount val="130"/>
                <c:pt idx="0">
                  <c:v>17256.85</c:v>
                </c:pt>
                <c:pt idx="1">
                  <c:v>7247.61</c:v>
                </c:pt>
                <c:pt idx="2">
                  <c:v>7943.22</c:v>
                </c:pt>
                <c:pt idx="3">
                  <c:v>5719.82</c:v>
                </c:pt>
                <c:pt idx="4">
                  <c:v>10629.72</c:v>
                </c:pt>
                <c:pt idx="5">
                  <c:v>6697.66</c:v>
                </c:pt>
                <c:pt idx="6">
                  <c:v>5891.61</c:v>
                </c:pt>
                <c:pt idx="7">
                  <c:v>6620.48</c:v>
                </c:pt>
                <c:pt idx="8">
                  <c:v>13027.45</c:v>
                </c:pt>
                <c:pt idx="9">
                  <c:v>15610.39</c:v>
                </c:pt>
                <c:pt idx="10">
                  <c:v>4812.42</c:v>
                </c:pt>
                <c:pt idx="11">
                  <c:v>6403.25</c:v>
                </c:pt>
                <c:pt idx="12">
                  <c:v>5977.7300000000005</c:v>
                </c:pt>
                <c:pt idx="13">
                  <c:v>8968.31</c:v>
                </c:pt>
                <c:pt idx="14">
                  <c:v>9818.82</c:v>
                </c:pt>
                <c:pt idx="15">
                  <c:v>13400.24</c:v>
                </c:pt>
                <c:pt idx="16">
                  <c:v>5528.4800000000005</c:v>
                </c:pt>
                <c:pt idx="17">
                  <c:v>7792.36</c:v>
                </c:pt>
                <c:pt idx="18">
                  <c:v>6989.63</c:v>
                </c:pt>
                <c:pt idx="19">
                  <c:v>6893.42</c:v>
                </c:pt>
                <c:pt idx="20">
                  <c:v>7194.3</c:v>
                </c:pt>
                <c:pt idx="21">
                  <c:v>8052.97</c:v>
                </c:pt>
                <c:pt idx="22">
                  <c:v>8338.49</c:v>
                </c:pt>
                <c:pt idx="23">
                  <c:v>11581.8</c:v>
                </c:pt>
                <c:pt idx="24">
                  <c:v>6363.59</c:v>
                </c:pt>
                <c:pt idx="25">
                  <c:v>5725.47</c:v>
                </c:pt>
                <c:pt idx="26">
                  <c:v>6776.56</c:v>
                </c:pt>
                <c:pt idx="27">
                  <c:v>6868.29</c:v>
                </c:pt>
                <c:pt idx="28">
                  <c:v>17628.46</c:v>
                </c:pt>
                <c:pt idx="29">
                  <c:v>9261.52</c:v>
                </c:pt>
                <c:pt idx="30">
                  <c:v>6924.110000000001</c:v>
                </c:pt>
                <c:pt idx="31">
                  <c:v>8476.57</c:v>
                </c:pt>
                <c:pt idx="32">
                  <c:v>7281.38</c:v>
                </c:pt>
                <c:pt idx="33">
                  <c:v>8214.65</c:v>
                </c:pt>
                <c:pt idx="34">
                  <c:v>8816.4</c:v>
                </c:pt>
                <c:pt idx="35">
                  <c:v>5575.56</c:v>
                </c:pt>
                <c:pt idx="36">
                  <c:v>10196.57</c:v>
                </c:pt>
                <c:pt idx="37">
                  <c:v>4183.39</c:v>
                </c:pt>
                <c:pt idx="38">
                  <c:v>7832.47</c:v>
                </c:pt>
                <c:pt idx="39">
                  <c:v>5580.6</c:v>
                </c:pt>
                <c:pt idx="40">
                  <c:v>11054.96</c:v>
                </c:pt>
                <c:pt idx="41">
                  <c:v>6217.96</c:v>
                </c:pt>
                <c:pt idx="42">
                  <c:v>8694.26</c:v>
                </c:pt>
                <c:pt idx="43">
                  <c:v>6487.45</c:v>
                </c:pt>
                <c:pt idx="44">
                  <c:v>7616.53</c:v>
                </c:pt>
                <c:pt idx="45">
                  <c:v>13110.02</c:v>
                </c:pt>
                <c:pt idx="46">
                  <c:v>4552.14</c:v>
                </c:pt>
                <c:pt idx="47">
                  <c:v>4684.76</c:v>
                </c:pt>
                <c:pt idx="48">
                  <c:v>4805.17</c:v>
                </c:pt>
                <c:pt idx="49">
                  <c:v>6814.64</c:v>
                </c:pt>
                <c:pt idx="50">
                  <c:v>10668.47</c:v>
                </c:pt>
                <c:pt idx="51">
                  <c:v>8099.49</c:v>
                </c:pt>
                <c:pt idx="52">
                  <c:v>6115.01</c:v>
                </c:pt>
                <c:pt idx="53">
                  <c:v>10464.85</c:v>
                </c:pt>
                <c:pt idx="54">
                  <c:v>12627.94</c:v>
                </c:pt>
                <c:pt idx="55">
                  <c:v>8022.49</c:v>
                </c:pt>
                <c:pt idx="56">
                  <c:v>18895.91</c:v>
                </c:pt>
                <c:pt idx="57">
                  <c:v>7123.62</c:v>
                </c:pt>
                <c:pt idx="58">
                  <c:v>11528.48</c:v>
                </c:pt>
                <c:pt idx="59">
                  <c:v>6140.42</c:v>
                </c:pt>
                <c:pt idx="60">
                  <c:v>5653.82</c:v>
                </c:pt>
                <c:pt idx="61">
                  <c:v>9401.28</c:v>
                </c:pt>
                <c:pt idx="62">
                  <c:v>6580.44</c:v>
                </c:pt>
                <c:pt idx="63">
                  <c:v>11349.52</c:v>
                </c:pt>
                <c:pt idx="64">
                  <c:v>6572.11</c:v>
                </c:pt>
                <c:pt idx="65">
                  <c:v>5591.42</c:v>
                </c:pt>
                <c:pt idx="66">
                  <c:v>5630.87</c:v>
                </c:pt>
                <c:pt idx="67">
                  <c:v>9035.52</c:v>
                </c:pt>
                <c:pt idx="68">
                  <c:v>5655.91</c:v>
                </c:pt>
                <c:pt idx="69">
                  <c:v>6802.76</c:v>
                </c:pt>
                <c:pt idx="70">
                  <c:v>10254.18</c:v>
                </c:pt>
                <c:pt idx="71">
                  <c:v>9068.26</c:v>
                </c:pt>
                <c:pt idx="72">
                  <c:v>11990.96</c:v>
                </c:pt>
                <c:pt idx="73">
                  <c:v>5425.56</c:v>
                </c:pt>
                <c:pt idx="74">
                  <c:v>5180.52</c:v>
                </c:pt>
                <c:pt idx="75">
                  <c:v>11072.67</c:v>
                </c:pt>
                <c:pt idx="76">
                  <c:v>4730.81</c:v>
                </c:pt>
                <c:pt idx="77">
                  <c:v>6675.71</c:v>
                </c:pt>
                <c:pt idx="78">
                  <c:v>17286.86</c:v>
                </c:pt>
                <c:pt idx="79">
                  <c:v>5346.2300000000005</c:v>
                </c:pt>
                <c:pt idx="80">
                  <c:v>5213.77</c:v>
                </c:pt>
                <c:pt idx="81">
                  <c:v>4022.35</c:v>
                </c:pt>
                <c:pt idx="82">
                  <c:v>12245.96</c:v>
                </c:pt>
                <c:pt idx="83">
                  <c:v>9418.47</c:v>
                </c:pt>
                <c:pt idx="84">
                  <c:v>6977.04</c:v>
                </c:pt>
                <c:pt idx="85">
                  <c:v>7857.1</c:v>
                </c:pt>
                <c:pt idx="86">
                  <c:v>4801.56</c:v>
                </c:pt>
                <c:pt idx="87">
                  <c:v>9241.2</c:v>
                </c:pt>
                <c:pt idx="88">
                  <c:v>4051.48</c:v>
                </c:pt>
                <c:pt idx="89">
                  <c:v>10674.75</c:v>
                </c:pt>
                <c:pt idx="90">
                  <c:v>6424.09</c:v>
                </c:pt>
                <c:pt idx="91">
                  <c:v>10484.99</c:v>
                </c:pt>
                <c:pt idx="92">
                  <c:v>7930.54</c:v>
                </c:pt>
                <c:pt idx="93">
                  <c:v>3787.6</c:v>
                </c:pt>
                <c:pt idx="94">
                  <c:v>7561.68</c:v>
                </c:pt>
                <c:pt idx="95">
                  <c:v>4345.5</c:v>
                </c:pt>
                <c:pt idx="96">
                  <c:v>7121.95</c:v>
                </c:pt>
                <c:pt idx="97">
                  <c:v>7700.23</c:v>
                </c:pt>
                <c:pt idx="98">
                  <c:v>5398.3</c:v>
                </c:pt>
                <c:pt idx="99">
                  <c:v>10526.32</c:v>
                </c:pt>
                <c:pt idx="100">
                  <c:v>17159.52</c:v>
                </c:pt>
                <c:pt idx="101">
                  <c:v>4693.01</c:v>
                </c:pt>
                <c:pt idx="102">
                  <c:v>7277.7</c:v>
                </c:pt>
                <c:pt idx="103">
                  <c:v>2560</c:v>
                </c:pt>
                <c:pt idx="104">
                  <c:v>6509.1</c:v>
                </c:pt>
                <c:pt idx="105">
                  <c:v>7239.92</c:v>
                </c:pt>
                <c:pt idx="106">
                  <c:v>9053.94</c:v>
                </c:pt>
                <c:pt idx="107">
                  <c:v>7276.900000000001</c:v>
                </c:pt>
                <c:pt idx="108">
                  <c:v>12515.66</c:v>
                </c:pt>
                <c:pt idx="109">
                  <c:v>16387.57</c:v>
                </c:pt>
                <c:pt idx="110">
                  <c:v>13316.4</c:v>
                </c:pt>
                <c:pt idx="111">
                  <c:v>6717.34</c:v>
                </c:pt>
                <c:pt idx="112">
                  <c:v>19824.05</c:v>
                </c:pt>
                <c:pt idx="113">
                  <c:v>11045.04</c:v>
                </c:pt>
                <c:pt idx="114">
                  <c:v>4951.41</c:v>
                </c:pt>
                <c:pt idx="115">
                  <c:v>5605.29</c:v>
                </c:pt>
                <c:pt idx="116">
                  <c:v>6127.43</c:v>
                </c:pt>
                <c:pt idx="117">
                  <c:v>4436.12</c:v>
                </c:pt>
                <c:pt idx="118">
                  <c:v>5900.28</c:v>
                </c:pt>
                <c:pt idx="119">
                  <c:v>12669.98</c:v>
                </c:pt>
                <c:pt idx="120">
                  <c:v>5836.86</c:v>
                </c:pt>
                <c:pt idx="121">
                  <c:v>10845.55</c:v>
                </c:pt>
                <c:pt idx="122">
                  <c:v>7375.79</c:v>
                </c:pt>
                <c:pt idx="123">
                  <c:v>3834.26</c:v>
                </c:pt>
                <c:pt idx="124">
                  <c:v>4448.54</c:v>
                </c:pt>
                <c:pt idx="125">
                  <c:v>14034.99</c:v>
                </c:pt>
                <c:pt idx="126">
                  <c:v>10399.74</c:v>
                </c:pt>
                <c:pt idx="127">
                  <c:v>7044.68</c:v>
                </c:pt>
                <c:pt idx="128">
                  <c:v>9585.91</c:v>
                </c:pt>
                <c:pt idx="129">
                  <c:v>16363.23</c:v>
                </c:pt>
              </c:numCache>
            </c:numRef>
          </c:xVal>
          <c:yVal>
            <c:numRef>
              <c:f>Sheet1!$B$2:$B$131</c:f>
              <c:numCache>
                <c:formatCode>General</c:formatCode>
                <c:ptCount val="130"/>
                <c:pt idx="0">
                  <c:v>5070.35</c:v>
                </c:pt>
                <c:pt idx="1">
                  <c:v>2078.95</c:v>
                </c:pt>
                <c:pt idx="2">
                  <c:v>3466.28</c:v>
                </c:pt>
                <c:pt idx="3">
                  <c:v>3084.68</c:v>
                </c:pt>
                <c:pt idx="4">
                  <c:v>2607.61</c:v>
                </c:pt>
                <c:pt idx="5">
                  <c:v>3546.71</c:v>
                </c:pt>
                <c:pt idx="6">
                  <c:v>1105.07</c:v>
                </c:pt>
                <c:pt idx="7">
                  <c:v>2463.17</c:v>
                </c:pt>
                <c:pt idx="8">
                  <c:v>2515.84</c:v>
                </c:pt>
                <c:pt idx="9">
                  <c:v>3102.43</c:v>
                </c:pt>
                <c:pt idx="10">
                  <c:v>2179.93</c:v>
                </c:pt>
                <c:pt idx="11">
                  <c:v>4405.88</c:v>
                </c:pt>
                <c:pt idx="12">
                  <c:v>1508.76</c:v>
                </c:pt>
                <c:pt idx="13">
                  <c:v>1793.17</c:v>
                </c:pt>
                <c:pt idx="14">
                  <c:v>2735.37</c:v>
                </c:pt>
                <c:pt idx="15">
                  <c:v>3858.38</c:v>
                </c:pt>
                <c:pt idx="16">
                  <c:v>2676.56</c:v>
                </c:pt>
                <c:pt idx="17">
                  <c:v>4113.68</c:v>
                </c:pt>
                <c:pt idx="18">
                  <c:v>3023.08</c:v>
                </c:pt>
                <c:pt idx="19">
                  <c:v>2780.15</c:v>
                </c:pt>
                <c:pt idx="20">
                  <c:v>4488.81</c:v>
                </c:pt>
                <c:pt idx="21">
                  <c:v>2005.63</c:v>
                </c:pt>
                <c:pt idx="22">
                  <c:v>1445.01</c:v>
                </c:pt>
                <c:pt idx="23">
                  <c:v>3442.15</c:v>
                </c:pt>
                <c:pt idx="24">
                  <c:v>2106.52</c:v>
                </c:pt>
                <c:pt idx="25">
                  <c:v>2248.99</c:v>
                </c:pt>
                <c:pt idx="26">
                  <c:v>4757.95</c:v>
                </c:pt>
                <c:pt idx="27">
                  <c:v>2797.57</c:v>
                </c:pt>
                <c:pt idx="28">
                  <c:v>3190.55</c:v>
                </c:pt>
                <c:pt idx="29">
                  <c:v>3609.33</c:v>
                </c:pt>
                <c:pt idx="30">
                  <c:v>2279.9</c:v>
                </c:pt>
                <c:pt idx="31">
                  <c:v>4154.64</c:v>
                </c:pt>
                <c:pt idx="32">
                  <c:v>2634.26</c:v>
                </c:pt>
                <c:pt idx="33">
                  <c:v>2975.59</c:v>
                </c:pt>
                <c:pt idx="34">
                  <c:v>2383.24</c:v>
                </c:pt>
                <c:pt idx="35">
                  <c:v>3738.4</c:v>
                </c:pt>
                <c:pt idx="36">
                  <c:v>4090.88</c:v>
                </c:pt>
                <c:pt idx="37">
                  <c:v>1485.54</c:v>
                </c:pt>
                <c:pt idx="38">
                  <c:v>3466.36</c:v>
                </c:pt>
                <c:pt idx="39">
                  <c:v>2526.28</c:v>
                </c:pt>
                <c:pt idx="40">
                  <c:v>2055.51</c:v>
                </c:pt>
                <c:pt idx="41">
                  <c:v>4668.3</c:v>
                </c:pt>
                <c:pt idx="42">
                  <c:v>2639.17</c:v>
                </c:pt>
                <c:pt idx="43">
                  <c:v>1957.1</c:v>
                </c:pt>
                <c:pt idx="44">
                  <c:v>1960.72</c:v>
                </c:pt>
                <c:pt idx="45">
                  <c:v>3160</c:v>
                </c:pt>
                <c:pt idx="46">
                  <c:v>2473.37</c:v>
                </c:pt>
                <c:pt idx="47">
                  <c:v>6463.84</c:v>
                </c:pt>
                <c:pt idx="48">
                  <c:v>2188.05</c:v>
                </c:pt>
                <c:pt idx="49">
                  <c:v>4147.96</c:v>
                </c:pt>
                <c:pt idx="50">
                  <c:v>2100.8</c:v>
                </c:pt>
                <c:pt idx="51">
                  <c:v>1914.82</c:v>
                </c:pt>
                <c:pt idx="52">
                  <c:v>1545.62</c:v>
                </c:pt>
                <c:pt idx="53">
                  <c:v>2527.92</c:v>
                </c:pt>
                <c:pt idx="54">
                  <c:v>2552.86</c:v>
                </c:pt>
                <c:pt idx="55">
                  <c:v>2996.05</c:v>
                </c:pt>
                <c:pt idx="56">
                  <c:v>2005.06</c:v>
                </c:pt>
                <c:pt idx="57">
                  <c:v>1593.38</c:v>
                </c:pt>
                <c:pt idx="58">
                  <c:v>3170.98</c:v>
                </c:pt>
                <c:pt idx="59">
                  <c:v>3075.04</c:v>
                </c:pt>
                <c:pt idx="60">
                  <c:v>1451.28</c:v>
                </c:pt>
                <c:pt idx="61">
                  <c:v>4485.72</c:v>
                </c:pt>
                <c:pt idx="62">
                  <c:v>1530.75</c:v>
                </c:pt>
                <c:pt idx="63">
                  <c:v>3401.24</c:v>
                </c:pt>
                <c:pt idx="64">
                  <c:v>1199.01</c:v>
                </c:pt>
                <c:pt idx="65">
                  <c:v>3158.13</c:v>
                </c:pt>
                <c:pt idx="66">
                  <c:v>1098.43</c:v>
                </c:pt>
                <c:pt idx="67">
                  <c:v>5756.89</c:v>
                </c:pt>
                <c:pt idx="68">
                  <c:v>2633.01</c:v>
                </c:pt>
                <c:pt idx="69">
                  <c:v>3018.63</c:v>
                </c:pt>
                <c:pt idx="70">
                  <c:v>2741.17</c:v>
                </c:pt>
                <c:pt idx="71">
                  <c:v>3364.24</c:v>
                </c:pt>
                <c:pt idx="72">
                  <c:v>2209.36</c:v>
                </c:pt>
                <c:pt idx="73">
                  <c:v>3448.29</c:v>
                </c:pt>
                <c:pt idx="74">
                  <c:v>1661.33</c:v>
                </c:pt>
                <c:pt idx="75">
                  <c:v>3742.2</c:v>
                </c:pt>
                <c:pt idx="76">
                  <c:v>1936.07</c:v>
                </c:pt>
                <c:pt idx="77">
                  <c:v>4447.05</c:v>
                </c:pt>
                <c:pt idx="78">
                  <c:v>4196.01</c:v>
                </c:pt>
                <c:pt idx="79">
                  <c:v>1838.85</c:v>
                </c:pt>
                <c:pt idx="80">
                  <c:v>2810.2000000000003</c:v>
                </c:pt>
                <c:pt idx="81">
                  <c:v>1841.18</c:v>
                </c:pt>
                <c:pt idx="82">
                  <c:v>2218.02</c:v>
                </c:pt>
                <c:pt idx="83">
                  <c:v>1920.59</c:v>
                </c:pt>
                <c:pt idx="84">
                  <c:v>4921.04</c:v>
                </c:pt>
                <c:pt idx="85">
                  <c:v>1342.68</c:v>
                </c:pt>
                <c:pt idx="86">
                  <c:v>2578.09</c:v>
                </c:pt>
                <c:pt idx="87">
                  <c:v>3683.86</c:v>
                </c:pt>
                <c:pt idx="88">
                  <c:v>1702.26</c:v>
                </c:pt>
                <c:pt idx="89">
                  <c:v>5905.64</c:v>
                </c:pt>
                <c:pt idx="90">
                  <c:v>2474.33</c:v>
                </c:pt>
                <c:pt idx="91">
                  <c:v>2330.92</c:v>
                </c:pt>
                <c:pt idx="92">
                  <c:v>4481.35</c:v>
                </c:pt>
                <c:pt idx="93">
                  <c:v>2575.38</c:v>
                </c:pt>
                <c:pt idx="94">
                  <c:v>3000.2</c:v>
                </c:pt>
                <c:pt idx="95">
                  <c:v>2609.1</c:v>
                </c:pt>
                <c:pt idx="96">
                  <c:v>2520.86</c:v>
                </c:pt>
                <c:pt idx="97">
                  <c:v>5900.25</c:v>
                </c:pt>
                <c:pt idx="98">
                  <c:v>2827.93</c:v>
                </c:pt>
                <c:pt idx="99">
                  <c:v>3344.64</c:v>
                </c:pt>
                <c:pt idx="100">
                  <c:v>1469.45</c:v>
                </c:pt>
                <c:pt idx="101">
                  <c:v>3432.8</c:v>
                </c:pt>
                <c:pt idx="102">
                  <c:v>2337.63</c:v>
                </c:pt>
                <c:pt idx="103">
                  <c:v>2920.16</c:v>
                </c:pt>
                <c:pt idx="104">
                  <c:v>1205.12</c:v>
                </c:pt>
                <c:pt idx="105">
                  <c:v>2881.02</c:v>
                </c:pt>
                <c:pt idx="106">
                  <c:v>2724.81</c:v>
                </c:pt>
                <c:pt idx="107">
                  <c:v>3901.81</c:v>
                </c:pt>
                <c:pt idx="108">
                  <c:v>5596.32</c:v>
                </c:pt>
                <c:pt idx="109">
                  <c:v>3192.54</c:v>
                </c:pt>
                <c:pt idx="110">
                  <c:v>3613.63</c:v>
                </c:pt>
                <c:pt idx="111">
                  <c:v>2567.06</c:v>
                </c:pt>
                <c:pt idx="112">
                  <c:v>1303.52</c:v>
                </c:pt>
                <c:pt idx="113">
                  <c:v>4871.93</c:v>
                </c:pt>
                <c:pt idx="114">
                  <c:v>1695.66</c:v>
                </c:pt>
                <c:pt idx="115">
                  <c:v>2095.13</c:v>
                </c:pt>
                <c:pt idx="116">
                  <c:v>2328.9700000000003</c:v>
                </c:pt>
                <c:pt idx="117">
                  <c:v>3189.81</c:v>
                </c:pt>
                <c:pt idx="118">
                  <c:v>3006.15</c:v>
                </c:pt>
                <c:pt idx="119">
                  <c:v>2068.15</c:v>
                </c:pt>
                <c:pt idx="120">
                  <c:v>6207.67</c:v>
                </c:pt>
                <c:pt idx="121">
                  <c:v>3406.7200000000003</c:v>
                </c:pt>
                <c:pt idx="122">
                  <c:v>3984.22</c:v>
                </c:pt>
                <c:pt idx="123">
                  <c:v>1418.03</c:v>
                </c:pt>
                <c:pt idx="124">
                  <c:v>1883.81</c:v>
                </c:pt>
                <c:pt idx="125">
                  <c:v>2056.89</c:v>
                </c:pt>
                <c:pt idx="126">
                  <c:v>1875.11</c:v>
                </c:pt>
                <c:pt idx="127">
                  <c:v>1965.55</c:v>
                </c:pt>
                <c:pt idx="128">
                  <c:v>5509.12</c:v>
                </c:pt>
                <c:pt idx="129">
                  <c:v>2520.02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Regular Customer</c:v>
                </c:pt>
              </c:strCache>
            </c:strRef>
          </c:tx>
          <c:spPr>
            <a:solidFill>
              <a:srgbClr val="00A896"/>
            </a:solidFill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00A896"/>
              </a:solidFill>
              <a:ln w="9525" cap="flat">
                <a:solidFill>
                  <a:srgbClr val="00A896"/>
                </a:solidFill>
                <a:prstDash val="solid"/>
                <a:round/>
              </a:ln>
              <a:effectLst/>
            </c:spPr>
          </c:marker>
          <c:xVal>
            <c:numRef>
              <c:f>Sheet1!$A$2:$A$131</c:f>
              <c:numCache>
                <c:formatCode>General</c:formatCode>
                <c:ptCount val="130"/>
                <c:pt idx="0">
                  <c:v>17256.85</c:v>
                </c:pt>
                <c:pt idx="1">
                  <c:v>7247.61</c:v>
                </c:pt>
                <c:pt idx="2">
                  <c:v>7943.22</c:v>
                </c:pt>
                <c:pt idx="3">
                  <c:v>5719.82</c:v>
                </c:pt>
                <c:pt idx="4">
                  <c:v>10629.72</c:v>
                </c:pt>
                <c:pt idx="5">
                  <c:v>6697.66</c:v>
                </c:pt>
                <c:pt idx="6">
                  <c:v>5891.61</c:v>
                </c:pt>
                <c:pt idx="7">
                  <c:v>6620.48</c:v>
                </c:pt>
                <c:pt idx="8">
                  <c:v>13027.45</c:v>
                </c:pt>
                <c:pt idx="9">
                  <c:v>15610.39</c:v>
                </c:pt>
                <c:pt idx="10">
                  <c:v>4812.42</c:v>
                </c:pt>
                <c:pt idx="11">
                  <c:v>6403.25</c:v>
                </c:pt>
                <c:pt idx="12">
                  <c:v>5977.7300000000005</c:v>
                </c:pt>
                <c:pt idx="13">
                  <c:v>8968.31</c:v>
                </c:pt>
                <c:pt idx="14">
                  <c:v>9818.82</c:v>
                </c:pt>
                <c:pt idx="15">
                  <c:v>13400.24</c:v>
                </c:pt>
                <c:pt idx="16">
                  <c:v>5528.4800000000005</c:v>
                </c:pt>
                <c:pt idx="17">
                  <c:v>7792.36</c:v>
                </c:pt>
                <c:pt idx="18">
                  <c:v>6989.63</c:v>
                </c:pt>
                <c:pt idx="19">
                  <c:v>6893.42</c:v>
                </c:pt>
                <c:pt idx="20">
                  <c:v>7194.3</c:v>
                </c:pt>
                <c:pt idx="21">
                  <c:v>8052.97</c:v>
                </c:pt>
                <c:pt idx="22">
                  <c:v>8338.49</c:v>
                </c:pt>
                <c:pt idx="23">
                  <c:v>11581.8</c:v>
                </c:pt>
                <c:pt idx="24">
                  <c:v>6363.59</c:v>
                </c:pt>
                <c:pt idx="25">
                  <c:v>5725.47</c:v>
                </c:pt>
                <c:pt idx="26">
                  <c:v>6776.56</c:v>
                </c:pt>
                <c:pt idx="27">
                  <c:v>6868.29</c:v>
                </c:pt>
                <c:pt idx="28">
                  <c:v>17628.46</c:v>
                </c:pt>
                <c:pt idx="29">
                  <c:v>9261.52</c:v>
                </c:pt>
                <c:pt idx="30">
                  <c:v>6924.110000000001</c:v>
                </c:pt>
                <c:pt idx="31">
                  <c:v>8476.57</c:v>
                </c:pt>
                <c:pt idx="32">
                  <c:v>7281.38</c:v>
                </c:pt>
                <c:pt idx="33">
                  <c:v>8214.65</c:v>
                </c:pt>
                <c:pt idx="34">
                  <c:v>8816.4</c:v>
                </c:pt>
                <c:pt idx="35">
                  <c:v>5575.56</c:v>
                </c:pt>
                <c:pt idx="36">
                  <c:v>10196.57</c:v>
                </c:pt>
                <c:pt idx="37">
                  <c:v>4183.39</c:v>
                </c:pt>
                <c:pt idx="38">
                  <c:v>7832.47</c:v>
                </c:pt>
                <c:pt idx="39">
                  <c:v>5580.6</c:v>
                </c:pt>
                <c:pt idx="40">
                  <c:v>11054.96</c:v>
                </c:pt>
                <c:pt idx="41">
                  <c:v>6217.96</c:v>
                </c:pt>
                <c:pt idx="42">
                  <c:v>8694.26</c:v>
                </c:pt>
                <c:pt idx="43">
                  <c:v>6487.45</c:v>
                </c:pt>
                <c:pt idx="44">
                  <c:v>7616.53</c:v>
                </c:pt>
                <c:pt idx="45">
                  <c:v>13110.02</c:v>
                </c:pt>
                <c:pt idx="46">
                  <c:v>4552.14</c:v>
                </c:pt>
                <c:pt idx="47">
                  <c:v>4684.76</c:v>
                </c:pt>
                <c:pt idx="48">
                  <c:v>4805.17</c:v>
                </c:pt>
                <c:pt idx="49">
                  <c:v>6814.64</c:v>
                </c:pt>
                <c:pt idx="50">
                  <c:v>10668.47</c:v>
                </c:pt>
                <c:pt idx="51">
                  <c:v>8099.49</c:v>
                </c:pt>
                <c:pt idx="52">
                  <c:v>6115.01</c:v>
                </c:pt>
                <c:pt idx="53">
                  <c:v>10464.85</c:v>
                </c:pt>
                <c:pt idx="54">
                  <c:v>12627.94</c:v>
                </c:pt>
                <c:pt idx="55">
                  <c:v>8022.49</c:v>
                </c:pt>
                <c:pt idx="56">
                  <c:v>18895.91</c:v>
                </c:pt>
                <c:pt idx="57">
                  <c:v>7123.62</c:v>
                </c:pt>
                <c:pt idx="58">
                  <c:v>11528.48</c:v>
                </c:pt>
                <c:pt idx="59">
                  <c:v>6140.42</c:v>
                </c:pt>
                <c:pt idx="60">
                  <c:v>5653.82</c:v>
                </c:pt>
                <c:pt idx="61">
                  <c:v>9401.28</c:v>
                </c:pt>
                <c:pt idx="62">
                  <c:v>6580.44</c:v>
                </c:pt>
                <c:pt idx="63">
                  <c:v>11349.52</c:v>
                </c:pt>
                <c:pt idx="64">
                  <c:v>6572.11</c:v>
                </c:pt>
                <c:pt idx="65">
                  <c:v>5591.42</c:v>
                </c:pt>
                <c:pt idx="66">
                  <c:v>5630.87</c:v>
                </c:pt>
                <c:pt idx="67">
                  <c:v>9035.52</c:v>
                </c:pt>
                <c:pt idx="68">
                  <c:v>5655.91</c:v>
                </c:pt>
                <c:pt idx="69">
                  <c:v>6802.76</c:v>
                </c:pt>
                <c:pt idx="70">
                  <c:v>10254.18</c:v>
                </c:pt>
                <c:pt idx="71">
                  <c:v>9068.26</c:v>
                </c:pt>
                <c:pt idx="72">
                  <c:v>11990.96</c:v>
                </c:pt>
                <c:pt idx="73">
                  <c:v>5425.56</c:v>
                </c:pt>
                <c:pt idx="74">
                  <c:v>5180.52</c:v>
                </c:pt>
                <c:pt idx="75">
                  <c:v>11072.67</c:v>
                </c:pt>
                <c:pt idx="76">
                  <c:v>4730.81</c:v>
                </c:pt>
                <c:pt idx="77">
                  <c:v>6675.71</c:v>
                </c:pt>
                <c:pt idx="78">
                  <c:v>17286.86</c:v>
                </c:pt>
                <c:pt idx="79">
                  <c:v>5346.2300000000005</c:v>
                </c:pt>
                <c:pt idx="80">
                  <c:v>5213.77</c:v>
                </c:pt>
                <c:pt idx="81">
                  <c:v>4022.35</c:v>
                </c:pt>
                <c:pt idx="82">
                  <c:v>12245.96</c:v>
                </c:pt>
                <c:pt idx="83">
                  <c:v>9418.47</c:v>
                </c:pt>
                <c:pt idx="84">
                  <c:v>6977.04</c:v>
                </c:pt>
                <c:pt idx="85">
                  <c:v>7857.1</c:v>
                </c:pt>
                <c:pt idx="86">
                  <c:v>4801.56</c:v>
                </c:pt>
                <c:pt idx="87">
                  <c:v>9241.2</c:v>
                </c:pt>
                <c:pt idx="88">
                  <c:v>4051.48</c:v>
                </c:pt>
                <c:pt idx="89">
                  <c:v>10674.75</c:v>
                </c:pt>
                <c:pt idx="90">
                  <c:v>6424.09</c:v>
                </c:pt>
                <c:pt idx="91">
                  <c:v>10484.99</c:v>
                </c:pt>
                <c:pt idx="92">
                  <c:v>7930.54</c:v>
                </c:pt>
                <c:pt idx="93">
                  <c:v>3787.6</c:v>
                </c:pt>
                <c:pt idx="94">
                  <c:v>7561.68</c:v>
                </c:pt>
                <c:pt idx="95">
                  <c:v>4345.5</c:v>
                </c:pt>
                <c:pt idx="96">
                  <c:v>7121.95</c:v>
                </c:pt>
                <c:pt idx="97">
                  <c:v>7700.23</c:v>
                </c:pt>
                <c:pt idx="98">
                  <c:v>5398.3</c:v>
                </c:pt>
                <c:pt idx="99">
                  <c:v>10526.32</c:v>
                </c:pt>
                <c:pt idx="100">
                  <c:v>17159.52</c:v>
                </c:pt>
                <c:pt idx="101">
                  <c:v>4693.01</c:v>
                </c:pt>
                <c:pt idx="102">
                  <c:v>7277.7</c:v>
                </c:pt>
                <c:pt idx="103">
                  <c:v>2560</c:v>
                </c:pt>
                <c:pt idx="104">
                  <c:v>6509.1</c:v>
                </c:pt>
                <c:pt idx="105">
                  <c:v>7239.92</c:v>
                </c:pt>
                <c:pt idx="106">
                  <c:v>9053.94</c:v>
                </c:pt>
                <c:pt idx="107">
                  <c:v>7276.900000000001</c:v>
                </c:pt>
                <c:pt idx="108">
                  <c:v>12515.66</c:v>
                </c:pt>
                <c:pt idx="109">
                  <c:v>16387.57</c:v>
                </c:pt>
                <c:pt idx="110">
                  <c:v>13316.4</c:v>
                </c:pt>
                <c:pt idx="111">
                  <c:v>6717.34</c:v>
                </c:pt>
                <c:pt idx="112">
                  <c:v>19824.05</c:v>
                </c:pt>
                <c:pt idx="113">
                  <c:v>11045.04</c:v>
                </c:pt>
                <c:pt idx="114">
                  <c:v>4951.41</c:v>
                </c:pt>
                <c:pt idx="115">
                  <c:v>5605.29</c:v>
                </c:pt>
                <c:pt idx="116">
                  <c:v>6127.43</c:v>
                </c:pt>
                <c:pt idx="117">
                  <c:v>4436.12</c:v>
                </c:pt>
                <c:pt idx="118">
                  <c:v>5900.28</c:v>
                </c:pt>
                <c:pt idx="119">
                  <c:v>12669.98</c:v>
                </c:pt>
                <c:pt idx="120">
                  <c:v>5836.86</c:v>
                </c:pt>
                <c:pt idx="121">
                  <c:v>10845.55</c:v>
                </c:pt>
                <c:pt idx="122">
                  <c:v>7375.79</c:v>
                </c:pt>
                <c:pt idx="123">
                  <c:v>3834.26</c:v>
                </c:pt>
                <c:pt idx="124">
                  <c:v>4448.54</c:v>
                </c:pt>
                <c:pt idx="125">
                  <c:v>14034.99</c:v>
                </c:pt>
                <c:pt idx="126">
                  <c:v>10399.74</c:v>
                </c:pt>
                <c:pt idx="127">
                  <c:v>7044.68</c:v>
                </c:pt>
                <c:pt idx="128">
                  <c:v>9585.91</c:v>
                </c:pt>
                <c:pt idx="129">
                  <c:v>16363.23</c:v>
                </c:pt>
              </c:numCache>
            </c:numRef>
          </c:xVal>
          <c:yVal>
            <c:numRef>
              <c:f>Sheet1!$C$2:$C$131</c:f>
              <c:numCache>
                <c:formatCode>General</c:formatCode>
                <c:ptCount val="130"/>
                <c:pt idx="0">
                  <c:v>2225.91</c:v>
                </c:pt>
                <c:pt idx="1">
                  <c:v>266.4</c:v>
                </c:pt>
                <c:pt idx="2">
                  <c:v>763.28</c:v>
                </c:pt>
                <c:pt idx="3">
                  <c:v>112.6</c:v>
                </c:pt>
                <c:pt idx="4">
                  <c:v>152.65</c:v>
                </c:pt>
                <c:pt idx="5">
                  <c:v>1564.56</c:v>
                </c:pt>
                <c:pt idx="6">
                  <c:v>3938.55</c:v>
                </c:pt>
                <c:pt idx="7">
                  <c:v>425</c:v>
                </c:pt>
                <c:pt idx="8">
                  <c:v>306.55</c:v>
                </c:pt>
                <c:pt idx="9">
                  <c:v>1308.61</c:v>
                </c:pt>
                <c:pt idx="10">
                  <c:v>84.3</c:v>
                </c:pt>
                <c:pt idx="11">
                  <c:v>289.78</c:v>
                </c:pt>
                <c:pt idx="12">
                  <c:v>386.15</c:v>
                </c:pt>
                <c:pt idx="13">
                  <c:v>303.97</c:v>
                </c:pt>
                <c:pt idx="14">
                  <c:v>251.52</c:v>
                </c:pt>
                <c:pt idx="15">
                  <c:v>1366.38</c:v>
                </c:pt>
                <c:pt idx="16">
                  <c:v>1163.45</c:v>
                </c:pt>
                <c:pt idx="17">
                  <c:v>167.61</c:v>
                </c:pt>
                <c:pt idx="18">
                  <c:v>496.21</c:v>
                </c:pt>
                <c:pt idx="19">
                  <c:v>254.03</c:v>
                </c:pt>
                <c:pt idx="20">
                  <c:v>712.8000000000001</c:v>
                </c:pt>
                <c:pt idx="21">
                  <c:v>1008.39</c:v>
                </c:pt>
                <c:pt idx="22">
                  <c:v>271.05</c:v>
                </c:pt>
                <c:pt idx="23">
                  <c:v>71.4</c:v>
                </c:pt>
                <c:pt idx="24">
                  <c:v>666.1</c:v>
                </c:pt>
                <c:pt idx="25">
                  <c:v>63</c:v>
                </c:pt>
                <c:pt idx="26">
                  <c:v>117.85</c:v>
                </c:pt>
                <c:pt idx="27">
                  <c:v>248.1</c:v>
                </c:pt>
                <c:pt idx="28">
                  <c:v>175.2</c:v>
                </c:pt>
                <c:pt idx="29">
                  <c:v>601.98</c:v>
                </c:pt>
                <c:pt idx="30">
                  <c:v>1516.24</c:v>
                </c:pt>
                <c:pt idx="31">
                  <c:v>2099.54</c:v>
                </c:pt>
                <c:pt idx="32">
                  <c:v>540.45</c:v>
                </c:pt>
                <c:pt idx="33">
                  <c:v>39.75</c:v>
                </c:pt>
                <c:pt idx="34">
                  <c:v>530.18</c:v>
                </c:pt>
                <c:pt idx="35">
                  <c:v>162.3</c:v>
                </c:pt>
                <c:pt idx="36">
                  <c:v>89</c:v>
                </c:pt>
                <c:pt idx="37">
                  <c:v>330.45</c:v>
                </c:pt>
                <c:pt idx="38">
                  <c:v>1931.42</c:v>
                </c:pt>
                <c:pt idx="39">
                  <c:v>934.62</c:v>
                </c:pt>
                <c:pt idx="40">
                  <c:v>1174.58</c:v>
                </c:pt>
                <c:pt idx="41">
                  <c:v>590.9300000000001</c:v>
                </c:pt>
                <c:pt idx="42">
                  <c:v>189.5</c:v>
                </c:pt>
                <c:pt idx="43">
                  <c:v>1212.05</c:v>
                </c:pt>
                <c:pt idx="44">
                  <c:v>1835.7</c:v>
                </c:pt>
                <c:pt idx="45">
                  <c:v>482.01</c:v>
                </c:pt>
                <c:pt idx="46">
                  <c:v>1198.23</c:v>
                </c:pt>
                <c:pt idx="47">
                  <c:v>1372.8</c:v>
                </c:pt>
                <c:pt idx="48">
                  <c:v>467.66</c:v>
                </c:pt>
                <c:pt idx="49">
                  <c:v>110.95</c:v>
                </c:pt>
                <c:pt idx="50">
                  <c:v>801.51</c:v>
                </c:pt>
                <c:pt idx="51">
                  <c:v>1797.5</c:v>
                </c:pt>
                <c:pt idx="52">
                  <c:v>329.25</c:v>
                </c:pt>
                <c:pt idx="53">
                  <c:v>95.2</c:v>
                </c:pt>
                <c:pt idx="54">
                  <c:v>1475.81</c:v>
                </c:pt>
                <c:pt idx="55">
                  <c:v>79.6</c:v>
                </c:pt>
                <c:pt idx="56">
                  <c:v>356.85</c:v>
                </c:pt>
                <c:pt idx="57">
                  <c:v>895.61</c:v>
                </c:pt>
                <c:pt idx="58">
                  <c:v>256.38</c:v>
                </c:pt>
                <c:pt idx="59">
                  <c:v>275.28</c:v>
                </c:pt>
                <c:pt idx="60">
                  <c:v>2340.84</c:v>
                </c:pt>
                <c:pt idx="61">
                  <c:v>1910.01</c:v>
                </c:pt>
                <c:pt idx="62">
                  <c:v>389.01</c:v>
                </c:pt>
                <c:pt idx="63">
                  <c:v>735.66</c:v>
                </c:pt>
                <c:pt idx="64">
                  <c:v>2338.15</c:v>
                </c:pt>
                <c:pt idx="65">
                  <c:v>957.59</c:v>
                </c:pt>
                <c:pt idx="66">
                  <c:v>143.1</c:v>
                </c:pt>
                <c:pt idx="67">
                  <c:v>383.7</c:v>
                </c:pt>
                <c:pt idx="68">
                  <c:v>1019.76</c:v>
                </c:pt>
                <c:pt idx="69">
                  <c:v>142.5</c:v>
                </c:pt>
                <c:pt idx="70">
                  <c:v>364.6</c:v>
                </c:pt>
                <c:pt idx="71">
                  <c:v>81.57</c:v>
                </c:pt>
                <c:pt idx="72">
                  <c:v>779.5699999999999</c:v>
                </c:pt>
                <c:pt idx="73">
                  <c:v>389.5</c:v>
                </c:pt>
                <c:pt idx="74">
                  <c:v>1118.99</c:v>
                </c:pt>
                <c:pt idx="75">
                  <c:v>830.76</c:v>
                </c:pt>
                <c:pt idx="76">
                  <c:v>112.75</c:v>
                </c:pt>
                <c:pt idx="77">
                  <c:v>575.4</c:v>
                </c:pt>
                <c:pt idx="78">
                  <c:v>584.3199999999999</c:v>
                </c:pt>
                <c:pt idx="79">
                  <c:v>377.44</c:v>
                </c:pt>
                <c:pt idx="80">
                  <c:v>470.36</c:v>
                </c:pt>
                <c:pt idx="81">
                  <c:v>308.58000000000004</c:v>
                </c:pt>
                <c:pt idx="82">
                  <c:v>1933.48</c:v>
                </c:pt>
                <c:pt idx="83">
                  <c:v>37.4</c:v>
                </c:pt>
                <c:pt idx="84">
                  <c:v>1647.26</c:v>
                </c:pt>
                <c:pt idx="85">
                  <c:v>704.0400000000001</c:v>
                </c:pt>
                <c:pt idx="86">
                  <c:v>379.35</c:v>
                </c:pt>
                <c:pt idx="87">
                  <c:v>308.28000000000003</c:v>
                </c:pt>
                <c:pt idx="88">
                  <c:v>492.65</c:v>
                </c:pt>
                <c:pt idx="89">
                  <c:v>247.96</c:v>
                </c:pt>
                <c:pt idx="90">
                  <c:v>213.27</c:v>
                </c:pt>
                <c:pt idx="91">
                  <c:v>449.45</c:v>
                </c:pt>
                <c:pt idx="92">
                  <c:v>25.5</c:v>
                </c:pt>
                <c:pt idx="93">
                  <c:v>1238.47</c:v>
                </c:pt>
                <c:pt idx="94">
                  <c:v>12.75</c:v>
                </c:pt>
                <c:pt idx="95">
                  <c:v>234</c:v>
                </c:pt>
                <c:pt idx="96">
                  <c:v>461.19</c:v>
                </c:pt>
                <c:pt idx="97">
                  <c:v>53.5</c:v>
                </c:pt>
                <c:pt idx="98">
                  <c:v>219</c:v>
                </c:pt>
                <c:pt idx="99">
                  <c:v>588.85</c:v>
                </c:pt>
                <c:pt idx="100">
                  <c:v>2744.03</c:v>
                </c:pt>
                <c:pt idx="101">
                  <c:v>1690.2600000000002</c:v>
                </c:pt>
                <c:pt idx="102">
                  <c:v>80.82</c:v>
                </c:pt>
                <c:pt idx="103">
                  <c:v>594</c:v>
                </c:pt>
                <c:pt idx="104">
                  <c:v>135.39999999999998</c:v>
                </c:pt>
                <c:pt idx="105">
                  <c:v>1270.88</c:v>
                </c:pt>
                <c:pt idx="106">
                  <c:v>520.8000000000001</c:v>
                </c:pt>
                <c:pt idx="107">
                  <c:v>122.75</c:v>
                </c:pt>
                <c:pt idx="108">
                  <c:v>369.5</c:v>
                </c:pt>
                <c:pt idx="109">
                  <c:v>626.65</c:v>
                </c:pt>
                <c:pt idx="110">
                  <c:v>133.35000000000002</c:v>
                </c:pt>
                <c:pt idx="111">
                  <c:v>415.2</c:v>
                </c:pt>
                <c:pt idx="112">
                  <c:v>2446.6</c:v>
                </c:pt>
                <c:pt idx="113">
                  <c:v>41.99</c:v>
                </c:pt>
                <c:pt idx="114">
                  <c:v>96.6</c:v>
                </c:pt>
                <c:pt idx="115">
                  <c:v>674.52</c:v>
                </c:pt>
                <c:pt idx="116">
                  <c:v>464.57</c:v>
                </c:pt>
                <c:pt idx="117">
                  <c:v>135.93</c:v>
                </c:pt>
                <c:pt idx="118">
                  <c:v>773.99</c:v>
                </c:pt>
                <c:pt idx="119">
                  <c:v>1189.59</c:v>
                </c:pt>
                <c:pt idx="120">
                  <c:v>290.36</c:v>
                </c:pt>
                <c:pt idx="121">
                  <c:v>109.8</c:v>
                </c:pt>
                <c:pt idx="122">
                  <c:v>155.05</c:v>
                </c:pt>
                <c:pt idx="123">
                  <c:v>895.13</c:v>
                </c:pt>
                <c:pt idx="124">
                  <c:v>1345.62</c:v>
                </c:pt>
                <c:pt idx="125">
                  <c:v>450.84</c:v>
                </c:pt>
                <c:pt idx="126">
                  <c:v>623.16</c:v>
                </c:pt>
                <c:pt idx="127">
                  <c:v>325.1</c:v>
                </c:pt>
                <c:pt idx="128">
                  <c:v>355.11</c:v>
                </c:pt>
                <c:pt idx="129">
                  <c:v>313.8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 Value Customer</c:v>
                </c:pt>
              </c:strCache>
            </c:strRef>
          </c:tx>
          <c:spPr>
            <a:solidFill>
              <a:srgbClr val="028090"/>
            </a:solidFill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xVal>
            <c:numRef>
              <c:f>Sheet1!$A$2:$A$131</c:f>
              <c:numCache>
                <c:formatCode>General</c:formatCode>
                <c:ptCount val="130"/>
                <c:pt idx="0">
                  <c:v>17256.85</c:v>
                </c:pt>
                <c:pt idx="1">
                  <c:v>7247.61</c:v>
                </c:pt>
                <c:pt idx="2">
                  <c:v>7943.22</c:v>
                </c:pt>
                <c:pt idx="3">
                  <c:v>5719.82</c:v>
                </c:pt>
                <c:pt idx="4">
                  <c:v>10629.72</c:v>
                </c:pt>
                <c:pt idx="5">
                  <c:v>6697.66</c:v>
                </c:pt>
                <c:pt idx="6">
                  <c:v>5891.61</c:v>
                </c:pt>
                <c:pt idx="7">
                  <c:v>6620.48</c:v>
                </c:pt>
                <c:pt idx="8">
                  <c:v>13027.45</c:v>
                </c:pt>
                <c:pt idx="9">
                  <c:v>15610.39</c:v>
                </c:pt>
                <c:pt idx="10">
                  <c:v>4812.42</c:v>
                </c:pt>
                <c:pt idx="11">
                  <c:v>6403.25</c:v>
                </c:pt>
                <c:pt idx="12">
                  <c:v>5977.7300000000005</c:v>
                </c:pt>
                <c:pt idx="13">
                  <c:v>8968.31</c:v>
                </c:pt>
                <c:pt idx="14">
                  <c:v>9818.82</c:v>
                </c:pt>
                <c:pt idx="15">
                  <c:v>13400.24</c:v>
                </c:pt>
                <c:pt idx="16">
                  <c:v>5528.4800000000005</c:v>
                </c:pt>
                <c:pt idx="17">
                  <c:v>7792.36</c:v>
                </c:pt>
                <c:pt idx="18">
                  <c:v>6989.63</c:v>
                </c:pt>
                <c:pt idx="19">
                  <c:v>6893.42</c:v>
                </c:pt>
                <c:pt idx="20">
                  <c:v>7194.3</c:v>
                </c:pt>
                <c:pt idx="21">
                  <c:v>8052.97</c:v>
                </c:pt>
                <c:pt idx="22">
                  <c:v>8338.49</c:v>
                </c:pt>
                <c:pt idx="23">
                  <c:v>11581.8</c:v>
                </c:pt>
                <c:pt idx="24">
                  <c:v>6363.59</c:v>
                </c:pt>
                <c:pt idx="25">
                  <c:v>5725.47</c:v>
                </c:pt>
                <c:pt idx="26">
                  <c:v>6776.56</c:v>
                </c:pt>
                <c:pt idx="27">
                  <c:v>6868.29</c:v>
                </c:pt>
                <c:pt idx="28">
                  <c:v>17628.46</c:v>
                </c:pt>
                <c:pt idx="29">
                  <c:v>9261.52</c:v>
                </c:pt>
                <c:pt idx="30">
                  <c:v>6924.110000000001</c:v>
                </c:pt>
                <c:pt idx="31">
                  <c:v>8476.57</c:v>
                </c:pt>
                <c:pt idx="32">
                  <c:v>7281.38</c:v>
                </c:pt>
                <c:pt idx="33">
                  <c:v>8214.65</c:v>
                </c:pt>
                <c:pt idx="34">
                  <c:v>8816.4</c:v>
                </c:pt>
                <c:pt idx="35">
                  <c:v>5575.56</c:v>
                </c:pt>
                <c:pt idx="36">
                  <c:v>10196.57</c:v>
                </c:pt>
                <c:pt idx="37">
                  <c:v>4183.39</c:v>
                </c:pt>
                <c:pt idx="38">
                  <c:v>7832.47</c:v>
                </c:pt>
                <c:pt idx="39">
                  <c:v>5580.6</c:v>
                </c:pt>
                <c:pt idx="40">
                  <c:v>11054.96</c:v>
                </c:pt>
                <c:pt idx="41">
                  <c:v>6217.96</c:v>
                </c:pt>
                <c:pt idx="42">
                  <c:v>8694.26</c:v>
                </c:pt>
                <c:pt idx="43">
                  <c:v>6487.45</c:v>
                </c:pt>
                <c:pt idx="44">
                  <c:v>7616.53</c:v>
                </c:pt>
                <c:pt idx="45">
                  <c:v>13110.02</c:v>
                </c:pt>
                <c:pt idx="46">
                  <c:v>4552.14</c:v>
                </c:pt>
                <c:pt idx="47">
                  <c:v>4684.76</c:v>
                </c:pt>
                <c:pt idx="48">
                  <c:v>4805.17</c:v>
                </c:pt>
                <c:pt idx="49">
                  <c:v>6814.64</c:v>
                </c:pt>
                <c:pt idx="50">
                  <c:v>10668.47</c:v>
                </c:pt>
                <c:pt idx="51">
                  <c:v>8099.49</c:v>
                </c:pt>
                <c:pt idx="52">
                  <c:v>6115.01</c:v>
                </c:pt>
                <c:pt idx="53">
                  <c:v>10464.85</c:v>
                </c:pt>
                <c:pt idx="54">
                  <c:v>12627.94</c:v>
                </c:pt>
                <c:pt idx="55">
                  <c:v>8022.49</c:v>
                </c:pt>
                <c:pt idx="56">
                  <c:v>18895.91</c:v>
                </c:pt>
                <c:pt idx="57">
                  <c:v>7123.62</c:v>
                </c:pt>
                <c:pt idx="58">
                  <c:v>11528.48</c:v>
                </c:pt>
                <c:pt idx="59">
                  <c:v>6140.42</c:v>
                </c:pt>
                <c:pt idx="60">
                  <c:v>5653.82</c:v>
                </c:pt>
                <c:pt idx="61">
                  <c:v>9401.28</c:v>
                </c:pt>
                <c:pt idx="62">
                  <c:v>6580.44</c:v>
                </c:pt>
                <c:pt idx="63">
                  <c:v>11349.52</c:v>
                </c:pt>
                <c:pt idx="64">
                  <c:v>6572.11</c:v>
                </c:pt>
                <c:pt idx="65">
                  <c:v>5591.42</c:v>
                </c:pt>
                <c:pt idx="66">
                  <c:v>5630.87</c:v>
                </c:pt>
                <c:pt idx="67">
                  <c:v>9035.52</c:v>
                </c:pt>
                <c:pt idx="68">
                  <c:v>5655.91</c:v>
                </c:pt>
                <c:pt idx="69">
                  <c:v>6802.76</c:v>
                </c:pt>
                <c:pt idx="70">
                  <c:v>10254.18</c:v>
                </c:pt>
                <c:pt idx="71">
                  <c:v>9068.26</c:v>
                </c:pt>
                <c:pt idx="72">
                  <c:v>11990.96</c:v>
                </c:pt>
                <c:pt idx="73">
                  <c:v>5425.56</c:v>
                </c:pt>
                <c:pt idx="74">
                  <c:v>5180.52</c:v>
                </c:pt>
                <c:pt idx="75">
                  <c:v>11072.67</c:v>
                </c:pt>
                <c:pt idx="76">
                  <c:v>4730.81</c:v>
                </c:pt>
                <c:pt idx="77">
                  <c:v>6675.71</c:v>
                </c:pt>
                <c:pt idx="78">
                  <c:v>17286.86</c:v>
                </c:pt>
                <c:pt idx="79">
                  <c:v>5346.2300000000005</c:v>
                </c:pt>
                <c:pt idx="80">
                  <c:v>5213.77</c:v>
                </c:pt>
                <c:pt idx="81">
                  <c:v>4022.35</c:v>
                </c:pt>
                <c:pt idx="82">
                  <c:v>12245.96</c:v>
                </c:pt>
                <c:pt idx="83">
                  <c:v>9418.47</c:v>
                </c:pt>
                <c:pt idx="84">
                  <c:v>6977.04</c:v>
                </c:pt>
                <c:pt idx="85">
                  <c:v>7857.1</c:v>
                </c:pt>
                <c:pt idx="86">
                  <c:v>4801.56</c:v>
                </c:pt>
                <c:pt idx="87">
                  <c:v>9241.2</c:v>
                </c:pt>
                <c:pt idx="88">
                  <c:v>4051.48</c:v>
                </c:pt>
                <c:pt idx="89">
                  <c:v>10674.75</c:v>
                </c:pt>
                <c:pt idx="90">
                  <c:v>6424.09</c:v>
                </c:pt>
                <c:pt idx="91">
                  <c:v>10484.99</c:v>
                </c:pt>
                <c:pt idx="92">
                  <c:v>7930.54</c:v>
                </c:pt>
                <c:pt idx="93">
                  <c:v>3787.6</c:v>
                </c:pt>
                <c:pt idx="94">
                  <c:v>7561.68</c:v>
                </c:pt>
                <c:pt idx="95">
                  <c:v>4345.5</c:v>
                </c:pt>
                <c:pt idx="96">
                  <c:v>7121.95</c:v>
                </c:pt>
                <c:pt idx="97">
                  <c:v>7700.23</c:v>
                </c:pt>
                <c:pt idx="98">
                  <c:v>5398.3</c:v>
                </c:pt>
                <c:pt idx="99">
                  <c:v>10526.32</c:v>
                </c:pt>
                <c:pt idx="100">
                  <c:v>17159.52</c:v>
                </c:pt>
                <c:pt idx="101">
                  <c:v>4693.01</c:v>
                </c:pt>
                <c:pt idx="102">
                  <c:v>7277.7</c:v>
                </c:pt>
                <c:pt idx="103">
                  <c:v>2560</c:v>
                </c:pt>
                <c:pt idx="104">
                  <c:v>6509.1</c:v>
                </c:pt>
                <c:pt idx="105">
                  <c:v>7239.92</c:v>
                </c:pt>
                <c:pt idx="106">
                  <c:v>9053.94</c:v>
                </c:pt>
                <c:pt idx="107">
                  <c:v>7276.900000000001</c:v>
                </c:pt>
                <c:pt idx="108">
                  <c:v>12515.66</c:v>
                </c:pt>
                <c:pt idx="109">
                  <c:v>16387.57</c:v>
                </c:pt>
                <c:pt idx="110">
                  <c:v>13316.4</c:v>
                </c:pt>
                <c:pt idx="111">
                  <c:v>6717.34</c:v>
                </c:pt>
                <c:pt idx="112">
                  <c:v>19824.05</c:v>
                </c:pt>
                <c:pt idx="113">
                  <c:v>11045.04</c:v>
                </c:pt>
                <c:pt idx="114">
                  <c:v>4951.41</c:v>
                </c:pt>
                <c:pt idx="115">
                  <c:v>5605.29</c:v>
                </c:pt>
                <c:pt idx="116">
                  <c:v>6127.43</c:v>
                </c:pt>
                <c:pt idx="117">
                  <c:v>4436.12</c:v>
                </c:pt>
                <c:pt idx="118">
                  <c:v>5900.28</c:v>
                </c:pt>
                <c:pt idx="119">
                  <c:v>12669.98</c:v>
                </c:pt>
                <c:pt idx="120">
                  <c:v>5836.86</c:v>
                </c:pt>
                <c:pt idx="121">
                  <c:v>10845.55</c:v>
                </c:pt>
                <c:pt idx="122">
                  <c:v>7375.79</c:v>
                </c:pt>
                <c:pt idx="123">
                  <c:v>3834.26</c:v>
                </c:pt>
                <c:pt idx="124">
                  <c:v>4448.54</c:v>
                </c:pt>
                <c:pt idx="125">
                  <c:v>14034.99</c:v>
                </c:pt>
                <c:pt idx="126">
                  <c:v>10399.74</c:v>
                </c:pt>
                <c:pt idx="127">
                  <c:v>7044.68</c:v>
                </c:pt>
                <c:pt idx="128">
                  <c:v>9585.91</c:v>
                </c:pt>
                <c:pt idx="129">
                  <c:v>16363.23</c:v>
                </c:pt>
              </c:numCache>
            </c:numRef>
          </c:xVal>
          <c:yVal>
            <c:numRef>
              <c:f>Sheet1!$D$2:$D$131</c:f>
              <c:numCache>
                <c:formatCode>General</c:formatCode>
                <c:ptCount val="130"/>
                <c:pt idx="0">
                  <c:v>770.03</c:v>
                </c:pt>
                <c:pt idx="1">
                  <c:v>283.55</c:v>
                </c:pt>
                <c:pt idx="2">
                  <c:v>352.7</c:v>
                </c:pt>
                <c:pt idx="3">
                  <c:v>335.32</c:v>
                </c:pt>
                <c:pt idx="4">
                  <c:v>151.04</c:v>
                </c:pt>
                <c:pt idx="5">
                  <c:v>598.2</c:v>
                </c:pt>
                <c:pt idx="6">
                  <c:v>123.24</c:v>
                </c:pt>
                <c:pt idx="7">
                  <c:v>1462.72</c:v>
                </c:pt>
                <c:pt idx="8">
                  <c:v>354.09</c:v>
                </c:pt>
                <c:pt idx="9">
                  <c:v>659.4399999999999</c:v>
                </c:pt>
                <c:pt idx="10">
                  <c:v>585</c:v>
                </c:pt>
                <c:pt idx="11">
                  <c:v>1080.76</c:v>
                </c:pt>
                <c:pt idx="12">
                  <c:v>383.03</c:v>
                </c:pt>
                <c:pt idx="13">
                  <c:v>395.8</c:v>
                </c:pt>
                <c:pt idx="14">
                  <c:v>561.71</c:v>
                </c:pt>
                <c:pt idx="15">
                  <c:v>305.28000000000003</c:v>
                </c:pt>
                <c:pt idx="16">
                  <c:v>145.92</c:v>
                </c:pt>
                <c:pt idx="17">
                  <c:v>1993.7</c:v>
                </c:pt>
                <c:pt idx="18">
                  <c:v>122.4</c:v>
                </c:pt>
                <c:pt idx="19">
                  <c:v>241.06</c:v>
                </c:pt>
                <c:pt idx="20">
                  <c:v>477.79</c:v>
                </c:pt>
                <c:pt idx="21">
                  <c:v>354.15</c:v>
                </c:pt>
                <c:pt idx="22">
                  <c:v>309.4</c:v>
                </c:pt>
                <c:pt idx="23">
                  <c:v>835.78</c:v>
                </c:pt>
                <c:pt idx="24">
                  <c:v>1041.61</c:v>
                </c:pt>
                <c:pt idx="25">
                  <c:v>1064.28</c:v>
                </c:pt>
                <c:pt idx="26">
                  <c:v>138.98</c:v>
                </c:pt>
                <c:pt idx="27">
                  <c:v>240</c:v>
                </c:pt>
                <c:pt idx="28">
                  <c:v>1255.59</c:v>
                </c:pt>
                <c:pt idx="29">
                  <c:v>1178.56</c:v>
                </c:pt>
                <c:pt idx="30">
                  <c:v>411.41</c:v>
                </c:pt>
                <c:pt idx="31">
                  <c:v>153.9</c:v>
                </c:pt>
                <c:pt idx="32">
                  <c:v>234.17</c:v>
                </c:pt>
                <c:pt idx="33">
                  <c:v>197.88</c:v>
                </c:pt>
                <c:pt idx="34">
                  <c:v>171.45</c:v>
                </c:pt>
                <c:pt idx="35">
                  <c:v>289.36</c:v>
                </c:pt>
                <c:pt idx="36">
                  <c:v>473.03</c:v>
                </c:pt>
                <c:pt idx="37">
                  <c:v>229.59</c:v>
                </c:pt>
                <c:pt idx="38">
                  <c:v>374.57</c:v>
                </c:pt>
                <c:pt idx="39">
                  <c:v>913.54</c:v>
                </c:pt>
                <c:pt idx="40">
                  <c:v>1054.67</c:v>
                </c:pt>
                <c:pt idx="41">
                  <c:v>211.32</c:v>
                </c:pt>
                <c:pt idx="42">
                  <c:v>229.47</c:v>
                </c:pt>
                <c:pt idx="43">
                  <c:v>712.78</c:v>
                </c:pt>
                <c:pt idx="44">
                  <c:v>1201.49</c:v>
                </c:pt>
                <c:pt idx="45">
                  <c:v>523</c:v>
                </c:pt>
                <c:pt idx="46">
                  <c:v>353.48</c:v>
                </c:pt>
                <c:pt idx="47">
                  <c:v>151.05</c:v>
                </c:pt>
                <c:pt idx="48">
                  <c:v>1071.03</c:v>
                </c:pt>
                <c:pt idx="49">
                  <c:v>1693.45</c:v>
                </c:pt>
                <c:pt idx="50">
                  <c:v>669.11</c:v>
                </c:pt>
                <c:pt idx="51">
                  <c:v>111.15</c:v>
                </c:pt>
                <c:pt idx="52">
                  <c:v>498.42</c:v>
                </c:pt>
                <c:pt idx="53">
                  <c:v>218.55</c:v>
                </c:pt>
                <c:pt idx="54">
                  <c:v>1123.86</c:v>
                </c:pt>
                <c:pt idx="55">
                  <c:v>680.1800000000001</c:v>
                </c:pt>
                <c:pt idx="56">
                  <c:v>473.81</c:v>
                </c:pt>
                <c:pt idx="57">
                  <c:v>1595.48</c:v>
                </c:pt>
                <c:pt idx="58">
                  <c:v>110.55</c:v>
                </c:pt>
                <c:pt idx="59">
                  <c:v>283.47</c:v>
                </c:pt>
                <c:pt idx="60">
                  <c:v>1314.68</c:v>
                </c:pt>
                <c:pt idx="61">
                  <c:v>203.1</c:v>
                </c:pt>
                <c:pt idx="62">
                  <c:v>1741.22</c:v>
                </c:pt>
                <c:pt idx="63">
                  <c:v>1387.68</c:v>
                </c:pt>
                <c:pt idx="64">
                  <c:v>403.7000000000001</c:v>
                </c:pt>
                <c:pt idx="65">
                  <c:v>348.71000000000004</c:v>
                </c:pt>
                <c:pt idx="66">
                  <c:v>1003.06</c:v>
                </c:pt>
                <c:pt idx="67">
                  <c:v>166.20000000000002</c:v>
                </c:pt>
                <c:pt idx="68">
                  <c:v>1050.89</c:v>
                </c:pt>
                <c:pt idx="69">
                  <c:v>195.25</c:v>
                </c:pt>
                <c:pt idx="70">
                  <c:v>297</c:v>
                </c:pt>
                <c:pt idx="71">
                  <c:v>780.43</c:v>
                </c:pt>
                <c:pt idx="72">
                  <c:v>463.8</c:v>
                </c:pt>
                <c:pt idx="73">
                  <c:v>170.75</c:v>
                </c:pt>
                <c:pt idx="74">
                  <c:v>845.64</c:v>
                </c:pt>
                <c:pt idx="75">
                  <c:v>58.08</c:v>
                </c:pt>
                <c:pt idx="76">
                  <c:v>249.86</c:v>
                </c:pt>
                <c:pt idx="77">
                  <c:v>216.3</c:v>
                </c:pt>
                <c:pt idx="78">
                  <c:v>190.88</c:v>
                </c:pt>
                <c:pt idx="79">
                  <c:v>207.74</c:v>
                </c:pt>
                <c:pt idx="80">
                  <c:v>853.39</c:v>
                </c:pt>
                <c:pt idx="81">
                  <c:v>193.39</c:v>
                </c:pt>
                <c:pt idx="82">
                  <c:v>801.76</c:v>
                </c:pt>
                <c:pt idx="83">
                  <c:v>570.96</c:v>
                </c:pt>
                <c:pt idx="84">
                  <c:v>602.51</c:v>
                </c:pt>
                <c:pt idx="85">
                  <c:v>471.7</c:v>
                </c:pt>
                <c:pt idx="86">
                  <c:v>574.7</c:v>
                </c:pt>
                <c:pt idx="87">
                  <c:v>316.26000000000005</c:v>
                </c:pt>
                <c:pt idx="88">
                  <c:v>682.41</c:v>
                </c:pt>
                <c:pt idx="89">
                  <c:v>313.62</c:v>
                </c:pt>
                <c:pt idx="90">
                  <c:v>317.76</c:v>
                </c:pt>
                <c:pt idx="91">
                  <c:v>265.76</c:v>
                </c:pt>
                <c:pt idx="92">
                  <c:v>72.9</c:v>
                </c:pt>
                <c:pt idx="93">
                  <c:v>656.25</c:v>
                </c:pt>
                <c:pt idx="94">
                  <c:v>1083.71</c:v>
                </c:pt>
                <c:pt idx="95">
                  <c:v>292</c:v>
                </c:pt>
                <c:pt idx="96">
                  <c:v>1735.18</c:v>
                </c:pt>
                <c:pt idx="97">
                  <c:v>336.4</c:v>
                </c:pt>
                <c:pt idx="98">
                  <c:v>940.67</c:v>
                </c:pt>
                <c:pt idx="99">
                  <c:v>75</c:v>
                </c:pt>
                <c:pt idx="100">
                  <c:v>296.7</c:v>
                </c:pt>
                <c:pt idx="101">
                  <c:v>216.5</c:v>
                </c:pt>
                <c:pt idx="102">
                  <c:v>546.1999999999999</c:v>
                </c:pt>
                <c:pt idx="103">
                  <c:v>765.3199999999999</c:v>
                </c:pt>
                <c:pt idx="104">
                  <c:v>114.18</c:v>
                </c:pt>
                <c:pt idx="105">
                  <c:v>1011.9</c:v>
                </c:pt>
                <c:pt idx="106">
                  <c:v>140.34</c:v>
                </c:pt>
                <c:pt idx="107">
                  <c:v>471.51</c:v>
                </c:pt>
                <c:pt idx="108">
                  <c:v>52.83</c:v>
                </c:pt>
                <c:pt idx="109">
                  <c:v>363.88</c:v>
                </c:pt>
                <c:pt idx="110">
                  <c:v>605.64</c:v>
                </c:pt>
                <c:pt idx="111">
                  <c:v>869.46</c:v>
                </c:pt>
                <c:pt idx="112">
                  <c:v>867.11</c:v>
                </c:pt>
                <c:pt idx="113">
                  <c:v>371.89</c:v>
                </c:pt>
                <c:pt idx="114">
                  <c:v>324.57</c:v>
                </c:pt>
                <c:pt idx="115">
                  <c:v>435.02</c:v>
                </c:pt>
                <c:pt idx="116">
                  <c:v>484.82</c:v>
                </c:pt>
                <c:pt idx="117">
                  <c:v>139.26</c:v>
                </c:pt>
                <c:pt idx="118">
                  <c:v>123.07</c:v>
                </c:pt>
                <c:pt idx="119">
                  <c:v>316.88</c:v>
                </c:pt>
                <c:pt idx="120">
                  <c:v>1877.59</c:v>
                </c:pt>
                <c:pt idx="121">
                  <c:v>304.25</c:v>
                </c:pt>
                <c:pt idx="122">
                  <c:v>1048.49</c:v>
                </c:pt>
                <c:pt idx="123">
                  <c:v>106.56</c:v>
                </c:pt>
                <c:pt idx="124">
                  <c:v>1649.5</c:v>
                </c:pt>
                <c:pt idx="125">
                  <c:v>360.01</c:v>
                </c:pt>
                <c:pt idx="126">
                  <c:v>257.68</c:v>
                </c:pt>
                <c:pt idx="127">
                  <c:v>1714.96</c:v>
                </c:pt>
                <c:pt idx="128">
                  <c:v>617.99</c:v>
                </c:pt>
                <c:pt idx="129">
                  <c:v>547.0600000000001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Total Quantity Purchased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B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Total Amount Spent (£)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FB9B9"/>
              </a:solidFill>
              <a:effectLst/>
            </c:spPr>
          </c:dPt>
          <c:dPt>
            <c:idx val="1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bubble3D val="0"/>
            <c:spPr>
              <a:solidFill>
                <a:srgbClr val="00A896"/>
              </a:solidFill>
              <a:effectLst/>
            </c:spPr>
          </c:dPt>
          <c:dPt>
            <c:idx val="3"/>
            <c:bubble3D val="0"/>
            <c:spPr>
              <a:solidFill>
                <a:srgbClr val="F76C6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Low Value Customer</c:v>
                </c:pt>
                <c:pt idx="1">
                  <c:v>Regular Customer</c:v>
                </c:pt>
                <c:pt idx="2">
                  <c:v>High Value Customer</c:v>
                </c:pt>
                <c:pt idx="3">
                  <c:v>Premium Customer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2654</c:v>
                </c:pt>
                <c:pt idx="1">
                  <c:v>639</c:v>
                </c:pt>
                <c:pt idx="2">
                  <c:v>761</c:v>
                </c:pt>
                <c:pt idx="3">
                  <c:v>174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Growth %</c:v>
                </c:pt>
              </c:strCache>
            </c:strRef>
          </c:tx>
          <c:spPr>
            <a:solidFill>
              <a:srgbClr val="00A896">
                <a:alpha val="100000"/>
              </a:srgbClr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B3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F76C6C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Poland</c:v>
                  </c:pt>
                  <c:pt idx="1">
                    <c:v>Channel Islands</c:v>
                  </c:pt>
                  <c:pt idx="2">
                    <c:v>EIRE</c:v>
                  </c:pt>
                  <c:pt idx="3">
                    <c:v>Austria</c:v>
                  </c:pt>
                  <c:pt idx="4">
                    <c:v>France</c:v>
                  </c:pt>
                  <c:pt idx="5">
                    <c:v>Belgium</c:v>
                  </c:pt>
                  <c:pt idx="6">
                    <c:v>Italy</c:v>
                  </c:pt>
                  <c:pt idx="7">
                    <c:v>Iceland</c:v>
                  </c:pt>
                  <c:pt idx="8">
                    <c:v>Switzerland</c:v>
                  </c:pt>
                  <c:pt idx="9">
                    <c:v>Norway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6.82</c:v>
                </c:pt>
                <c:pt idx="1">
                  <c:v>8.25</c:v>
                </c:pt>
                <c:pt idx="2">
                  <c:v>8.85</c:v>
                </c:pt>
                <c:pt idx="3">
                  <c:v>9.32</c:v>
                </c:pt>
                <c:pt idx="4">
                  <c:v>10.25</c:v>
                </c:pt>
                <c:pt idx="5">
                  <c:v>11.41</c:v>
                </c:pt>
                <c:pt idx="6">
                  <c:v>12.16</c:v>
                </c:pt>
                <c:pt idx="7">
                  <c:v>12.54</c:v>
                </c:pt>
                <c:pt idx="8">
                  <c:v>12.64</c:v>
                </c:pt>
                <c:pt idx="9">
                  <c:v>13.97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B2B3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B2B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0EB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Estimated Monthly Growth Rate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Norway</c:v>
                </c:pt>
              </c:strCache>
            </c:strRef>
          </c:tx>
          <c:spPr>
            <a:solidFill>
              <a:srgbClr val="F76C6C"/>
            </a:solidFill>
            <a:ln w="31750" cap="flat">
              <a:solidFill>
                <a:srgbClr val="F76C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76C6C"/>
              </a:solidFill>
              <a:ln w="9525" cap="flat">
                <a:solidFill>
                  <a:srgbClr val="F76C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Dec 2010</c:v>
                  </c:pt>
                  <c:pt idx="1">
                    <c:v>Jan 2011</c:v>
                  </c:pt>
                  <c:pt idx="2">
                    <c:v>Feb 2011</c:v>
                  </c:pt>
                  <c:pt idx="3">
                    <c:v>Mar 2011</c:v>
                  </c:pt>
                  <c:pt idx="4">
                    <c:v>Apr 2011</c:v>
                  </c:pt>
                  <c:pt idx="5">
                    <c:v>May 2011</c:v>
                  </c:pt>
                  <c:pt idx="6">
                    <c:v>Jun 2011</c:v>
                  </c:pt>
                  <c:pt idx="7">
                    <c:v>Jul 2011</c:v>
                  </c:pt>
                  <c:pt idx="8">
                    <c:v>Aug 2011</c:v>
                  </c:pt>
                  <c:pt idx="9">
                    <c:v>Sep 2011</c:v>
                  </c:pt>
                  <c:pt idx="10">
                    <c:v>Oct 2011</c:v>
                  </c:pt>
                  <c:pt idx="11">
                    <c:v>Nov 2011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3787.12</c:v>
                </c:pt>
                <c:pt idx="1">
                  <c:v/>
                </c:pt>
                <c:pt idx="2">
                  <c:v>630.9</c:v>
                </c:pt>
                <c:pt idx="3">
                  <c:v>1265.31</c:v>
                </c:pt>
                <c:pt idx="4">
                  <c:v/>
                </c:pt>
                <c:pt idx="5">
                  <c:v/>
                </c:pt>
                <c:pt idx="6">
                  <c:v>5886.86</c:v>
                </c:pt>
                <c:pt idx="7">
                  <c:v>890.07</c:v>
                </c:pt>
                <c:pt idx="8">
                  <c:v>2025.81</c:v>
                </c:pt>
                <c:pt idx="9">
                  <c:v>8678.94</c:v>
                </c:pt>
                <c:pt idx="10">
                  <c:v>3687.23</c:v>
                </c:pt>
                <c:pt idx="11">
                  <c:v>6527.5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Switzerland</c:v>
                </c:pt>
              </c:strCache>
            </c:strRef>
          </c:tx>
          <c:spPr>
            <a:solidFill>
              <a:srgbClr val="028090"/>
            </a:solidFill>
            <a:ln w="3175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Dec 2010</c:v>
                  </c:pt>
                  <c:pt idx="1">
                    <c:v>Jan 2011</c:v>
                  </c:pt>
                  <c:pt idx="2">
                    <c:v>Feb 2011</c:v>
                  </c:pt>
                  <c:pt idx="3">
                    <c:v>Mar 2011</c:v>
                  </c:pt>
                  <c:pt idx="4">
                    <c:v>Apr 2011</c:v>
                  </c:pt>
                  <c:pt idx="5">
                    <c:v>May 2011</c:v>
                  </c:pt>
                  <c:pt idx="6">
                    <c:v>Jun 2011</c:v>
                  </c:pt>
                  <c:pt idx="7">
                    <c:v>Jul 2011</c:v>
                  </c:pt>
                  <c:pt idx="8">
                    <c:v>Aug 2011</c:v>
                  </c:pt>
                  <c:pt idx="9">
                    <c:v>Sep 2011</c:v>
                  </c:pt>
                  <c:pt idx="10">
                    <c:v>Oct 2011</c:v>
                  </c:pt>
                  <c:pt idx="11">
                    <c:v>Nov 2011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1304.92</c:v>
                </c:pt>
                <c:pt idx="1">
                  <c:v>4231.23</c:v>
                </c:pt>
                <c:pt idx="2">
                  <c:v>2654.92</c:v>
                </c:pt>
                <c:pt idx="3">
                  <c:v>1870.23</c:v>
                </c:pt>
                <c:pt idx="4">
                  <c:v>2076.94</c:v>
                </c:pt>
                <c:pt idx="5">
                  <c:v>3610.01</c:v>
                </c:pt>
                <c:pt idx="6">
                  <c:v>7904.15</c:v>
                </c:pt>
                <c:pt idx="7">
                  <c:v>3762.65</c:v>
                </c:pt>
                <c:pt idx="8">
                  <c:v>4969.89</c:v>
                </c:pt>
                <c:pt idx="9">
                  <c:v>8284.86</c:v>
                </c:pt>
                <c:pt idx="10">
                  <c:v>7655.19</c:v>
                </c:pt>
                <c:pt idx="11">
                  <c:v>8118.96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Iceland</c:v>
                </c:pt>
              </c:strCache>
            </c:strRef>
          </c:tx>
          <c:spPr>
            <a:solidFill>
              <a:srgbClr val="00A896"/>
            </a:solidFill>
            <a:ln w="31750" cap="flat">
              <a:solidFill>
                <a:srgbClr val="00A8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A896"/>
              </a:solidFill>
              <a:ln w="9525" cap="flat">
                <a:solidFill>
                  <a:srgbClr val="00A8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Dec 2010</c:v>
                  </c:pt>
                  <c:pt idx="1">
                    <c:v>Jan 2011</c:v>
                  </c:pt>
                  <c:pt idx="2">
                    <c:v>Feb 2011</c:v>
                  </c:pt>
                  <c:pt idx="3">
                    <c:v>Mar 2011</c:v>
                  </c:pt>
                  <c:pt idx="4">
                    <c:v>Apr 2011</c:v>
                  </c:pt>
                  <c:pt idx="5">
                    <c:v>May 2011</c:v>
                  </c:pt>
                  <c:pt idx="6">
                    <c:v>Jun 2011</c:v>
                  </c:pt>
                  <c:pt idx="7">
                    <c:v>Jul 2011</c:v>
                  </c:pt>
                  <c:pt idx="8">
                    <c:v>Aug 2011</c:v>
                  </c:pt>
                  <c:pt idx="9">
                    <c:v>Sep 2011</c:v>
                  </c:pt>
                  <c:pt idx="10">
                    <c:v>Oct 2011</c:v>
                  </c:pt>
                  <c:pt idx="11">
                    <c:v>Nov 2011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711.79</c:v>
                </c:pt>
                <c:pt idx="1">
                  <c:v>475.39</c:v>
                </c:pt>
                <c:pt idx="2">
                  <c:v/>
                </c:pt>
                <c:pt idx="3">
                  <c:v/>
                </c:pt>
                <c:pt idx="4">
                  <c:v>636.25</c:v>
                </c:pt>
                <c:pt idx="5">
                  <c:v/>
                </c:pt>
                <c:pt idx="6">
                  <c:v>382.52</c:v>
                </c:pt>
                <c:pt idx="7">
                  <c:v/>
                </c:pt>
                <c:pt idx="8">
                  <c:v>584.91</c:v>
                </c:pt>
                <c:pt idx="9">
                  <c:v/>
                </c:pt>
                <c:pt idx="10">
                  <c:v>1294.32</c:v>
                </c:pt>
                <c:pt idx="11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Month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B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Revenue (£)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943600" cy="59436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AIML TRAINING PROGRAM  •  FINAL PROJECT PRESENTATION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Segmentation, Customer Type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&amp; Country Growth Prediction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4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year of online retail transactions into decisions about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E4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marketing, retention, and where to grow next.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846320"/>
            <a:ext cx="694944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956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52303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Sanvi  •  Shivansh  •  Shayan  •  Sanskar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 CSE — AIML Training Program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966960" y="6172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4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128016"/>
          </a:xfrm>
          <a:prstGeom prst="ellipse">
            <a:avLst/>
          </a:prstGeom>
          <a:solidFill>
            <a:srgbClr val="F76C6C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37944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379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Program Recap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21305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10-day journey from Python basics to Machine Learning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79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6243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71600" y="29718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 and the three questions we're answering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20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4655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71600" y="38130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feature engineering, and model building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361688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361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43068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371600" y="465429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segments, predictions, and growth markets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20293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202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51480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371600" y="549554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turns into marketing, retention and expansion decisions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 Project  |  AIML Training Batch – CSE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128016"/>
          </a:xfrm>
          <a:prstGeom prst="ellipse">
            <a:avLst/>
          </a:prstGeom>
          <a:solidFill>
            <a:srgbClr val="F76C6C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RECAP  •  DAYS 1–3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Foundations</a:t>
            </a:r>
            <a:endParaRPr lang="en-US" sz="2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core Python syntax and data structures, then applied object-oriented programming to model real-world entities.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EAF6F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Fundamentals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data types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&amp; conditions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Loops, calculator &amp; grade programs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169164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EAF6F6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&amp; Collections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80560" y="265176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Lists, tuples, sets, dictionaries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69164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EAF6F6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75320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OOP &amp; NumPy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75320" y="265176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objects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arrays &amp; operations</a:t>
            </a:r>
            <a:endParaRPr lang="en-US" sz="1250" dirty="0"/>
          </a:p>
        </p:txBody>
      </p:sp>
      <p:sp>
        <p:nvSpPr>
          <p:cNvPr id="100" name="Arrow 1"/>
          <p:cNvSpPr/>
          <p:nvPr/>
        </p:nvSpPr>
        <p:spPr>
          <a:xfrm>
            <a:off x="4028760" y="2782500"/>
            <a:ext cx="218400" cy="150000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01" name="Arrow 2"/>
          <p:cNvSpPr/>
          <p:nvPr/>
        </p:nvSpPr>
        <p:spPr>
          <a:xfrm>
            <a:off x="7823520" y="2782500"/>
            <a:ext cx="218400" cy="150000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4251960"/>
            <a:ext cx="11247120" cy="2050000"/>
          </a:xfrm>
          <a:prstGeom prst="roundRect">
            <a:avLst>
              <a:gd name="adj" fmla="val 4211"/>
            </a:avLst>
          </a:prstGeom>
          <a:solidFill>
            <a:srgbClr val="1B2B34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SNIPPET — OOP with Inheritance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663440"/>
            <a:ext cx="10698480" cy="1488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8F3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Person: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8F3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age):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8F3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8F3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self.age = age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8F3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Student(Person):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8F3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age, roll_no, marks):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8F3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super().__init__(name, age)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8F3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self.roll_no = roll_no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8F3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self.marks = marks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 Project  |  AIML Training Batch – CSE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128016"/>
          </a:xfrm>
          <a:prstGeom prst="ellipse">
            <a:avLst/>
          </a:prstGeom>
          <a:solidFill>
            <a:srgbClr val="F76C6C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RECAP  •  DAYS 4–5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With Data &amp; Seeing It Clearly</a:t>
            </a:r>
            <a:endParaRPr lang="en-US" sz="2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Pandas to clean and analyze tabular data, then visualized patterns and trends with Matplotlib chart types.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EAF6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&amp; CSV files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filtering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&amp; analysis</a:t>
            </a:r>
            <a:endParaRPr lang="en-US" sz="1400" dirty="0"/>
          </a:p>
        </p:txBody>
      </p:sp>
      <p:sp>
        <p:nvSpPr>
          <p:cNvPr id="100" name="Arrow 1"/>
          <p:cNvSpPr/>
          <p:nvPr/>
        </p:nvSpPr>
        <p:spPr>
          <a:xfrm>
            <a:off x="2079672" y="3902400"/>
            <a:ext cx="150000" cy="150480"/>
          </a:xfrm>
          <a:prstGeom prst="downArrow">
            <a:avLst/>
          </a:prstGeom>
          <a:solidFill>
            <a:srgbClr val="00A896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3977640"/>
            <a:ext cx="4846320" cy="0"/>
          </a:xfrm>
          <a:prstGeom prst="line">
            <a:avLst/>
          </a:prstGeom>
          <a:noFill/>
          <a:ln w="12700">
            <a:solidFill>
              <a:srgbClr val="C7D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434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4983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chart types practiced: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5303520"/>
            <a:ext cx="145389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5303520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95144" y="5303520"/>
            <a:ext cx="145389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95144" y="5303520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58768" y="5303520"/>
            <a:ext cx="145389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58768" y="5303520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5806440"/>
            <a:ext cx="167335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806440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Chart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14600" y="5806440"/>
            <a:ext cx="139903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14600" y="5806440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Map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1737360"/>
            <a:ext cx="566928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0EB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1874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OUTPUT — Bar Chart Example</a:t>
            </a:r>
            <a:endParaRPr lang="en-US" sz="11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6309360" y="219456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 Project  |  AIML Training Batch – CSE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128016"/>
          </a:xfrm>
          <a:prstGeom prst="ellipse">
            <a:avLst/>
          </a:prstGeom>
          <a:solidFill>
            <a:srgbClr val="F76C6C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RECAP  •  DAYS 6–9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ML Concepts to Evaluation</a:t>
            </a:r>
            <a:endParaRPr lang="en-US" sz="2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regression and classification models, then learned to measure their performance using standard evaluation metrics.</a:t>
            </a:r>
            <a:endParaRPr lang="en-US" sz="1400" dirty="0"/>
          </a:p>
        </p:txBody>
      </p:sp>
      <p:sp>
        <p:nvSpPr>
          <p:cNvPr id="100" name="Arrow 1"/>
          <p:cNvSpPr/>
          <p:nvPr/>
        </p:nvSpPr>
        <p:spPr>
          <a:xfrm>
            <a:off x="3171120" y="3734760"/>
            <a:ext cx="150000" cy="120000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01" name="Arrow 2"/>
          <p:cNvSpPr/>
          <p:nvPr/>
        </p:nvSpPr>
        <p:spPr>
          <a:xfrm>
            <a:off x="6051480" y="3734760"/>
            <a:ext cx="150000" cy="120000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02" name="Arrow 3"/>
          <p:cNvSpPr/>
          <p:nvPr/>
        </p:nvSpPr>
        <p:spPr>
          <a:xfrm>
            <a:off x="8931840" y="3734760"/>
            <a:ext cx="150000" cy="120000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78308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EAF6F6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9842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2286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Introduction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30175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 ML, workflow, datasets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vs unsupervised learning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(definition only)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178308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EAF6F6"/>
          </a:solidFill>
          <a:ln/>
        </p:spPr>
      </p:sp>
      <p:sp>
        <p:nvSpPr>
          <p:cNvPr id="10" name="Text 8"/>
          <p:cNvSpPr/>
          <p:nvPr/>
        </p:nvSpPr>
        <p:spPr>
          <a:xfrm>
            <a:off x="3538728" y="19842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38728" y="2286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38728" y="30175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Logistic Regression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projects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78308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EAF6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19088" y="19842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19088" y="2286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19088" y="30175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KNN, Decision Tree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(intro)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98280" y="178308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FDEDED"/>
          </a:solidFill>
          <a:ln/>
        </p:spPr>
      </p:sp>
      <p:sp>
        <p:nvSpPr>
          <p:cNvPr id="18" name="Text 16"/>
          <p:cNvSpPr/>
          <p:nvPr/>
        </p:nvSpPr>
        <p:spPr>
          <a:xfrm>
            <a:off x="9299448" y="19842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7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99448" y="2286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99448" y="30175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(definitions)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Day 9 (Evaluation) covered definitions only — no hands-on scoring exercises.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 Project  |  AIML Training Batch – CSE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128016"/>
          </a:xfrm>
          <a:prstGeom prst="ellipse">
            <a:avLst/>
          </a:prstGeom>
          <a:solidFill>
            <a:srgbClr val="F76C6C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Transactions to Business Decisions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year of an online retail company's transaction records — every item bought, by whom, when, and from which country — analyzed with machine learning to answer three business questions.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36118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0EB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8803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7033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are our customers?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~4,000+ customers into natural segments based on real shopping behaviour — using KMeans clustering.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70248" y="2606040"/>
            <a:ext cx="36118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0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44568" y="288036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544568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44568" y="37033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type is a new customer?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44568" y="43891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classify a new customer's value tier from a few transactions — using a Random Forest model.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83296" y="2606040"/>
            <a:ext cx="36118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0EB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57616" y="2880360"/>
            <a:ext cx="640080" cy="640080"/>
          </a:xfrm>
          <a:prstGeom prst="ellipse">
            <a:avLst/>
          </a:prstGeom>
          <a:solidFill>
            <a:srgbClr val="F76C6C"/>
          </a:solidFill>
          <a:ln/>
        </p:spPr>
      </p:sp>
      <p:sp>
        <p:nvSpPr>
          <p:cNvPr id="18" name="Text 16"/>
          <p:cNvSpPr/>
          <p:nvPr/>
        </p:nvSpPr>
        <p:spPr>
          <a:xfrm>
            <a:off x="8357616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57616" y="37033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should we grow?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57616" y="43891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countries' sales are accelerating fastest — using Linear Regression on monthly revenue trends.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 Project  |  AIML Training Batch – CSE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128016"/>
          </a:xfrm>
          <a:prstGeom prst="ellipse">
            <a:avLst/>
          </a:prstGeom>
          <a:solidFill>
            <a:srgbClr val="F76C6C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•  STEP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Snapshot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541,909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 Rows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37560" y="173736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9659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397,884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29000" y="27889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After Cleaning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9659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4,338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09360" y="27889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098280" y="173736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9189720" y="19659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189720" y="27889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3703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2010-12-01  →  2011-12-09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steps applied: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rows with missing CustomerID (can't be tied to a customer)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cancelled orders (InvoiceNo starting with "C")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rows with non-positive Quantity or UnitPrice (returns / data errors)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TotalPrice column = Quantity × UnitPrice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 Project  |  AIML Training Batch – CSE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128016"/>
          </a:xfrm>
          <a:prstGeom prst="ellipse">
            <a:avLst/>
          </a:prstGeom>
          <a:solidFill>
            <a:srgbClr val="F76C6C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•  STEP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Customer-Level Profile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row was rolled up into one profile per customer, with four behavioural features: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EAF6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TotalSpent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they spend in total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214884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EAF6F6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TotalQuantity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2743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items they buy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14884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EAF6F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TotalTransactions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2743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they place orders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98280" y="214884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EAF6F6"/>
          </a:solidFill>
          <a:ln/>
        </p:spPr>
      </p:sp>
      <p:sp>
        <p:nvSpPr>
          <p:cNvPr id="16" name="Text 14"/>
          <p:cNvSpPr/>
          <p:nvPr/>
        </p:nvSpPr>
        <p:spPr>
          <a:xfrm>
            <a:off x="9281160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AveragePrice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281160" y="2743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price point they buy at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0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977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Removal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31520" y="43891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above the 99th percentile on any feature were removed to prevent a few extreme accounts from distorting the clusters.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1520" y="5212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4,338</a:t>
            </a:r>
            <a:pPr indent="0" marL="0">
              <a:buNone/>
            </a:pPr>
            <a:r>
              <a:rPr lang="en-US" sz="16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4,228 customers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035040" y="379476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0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3977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Scaling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309360" y="43891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features were standardized (StandardScaler) so no single feature — like TotalSpent — dominates the clustering just because it's on a bigger scale.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 Project  |  AIML Training Batch – CSE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128016"/>
          </a:xfrm>
          <a:prstGeom prst="ellipse">
            <a:avLst/>
          </a:prstGeom>
          <a:solidFill>
            <a:srgbClr val="F76C6C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•  STEP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Number of Clusters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k = 1 to 10 and plotted inertia against k. The curve flattens noticeably at k = 4 — and 4 also gives clean, business-friendly segments.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2331720"/>
          <a:ext cx="74066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092440" y="2331720"/>
            <a:ext cx="3611880" cy="3977640"/>
          </a:xfrm>
          <a:prstGeom prst="roundRect">
            <a:avLst>
              <a:gd name="adj" fmla="val 3038"/>
            </a:avLst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8321040" y="2606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VALUE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321040" y="28346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4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8321040" y="3931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naturally onto four business-friendly segments: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321040" y="4434840"/>
            <a:ext cx="128016" cy="128016"/>
          </a:xfrm>
          <a:prstGeom prst="ellipse">
            <a:avLst/>
          </a:prstGeom>
          <a:solidFill>
            <a:srgbClr val="F76C6C"/>
          </a:solidFill>
          <a:ln/>
        </p:spPr>
      </p:sp>
      <p:sp>
        <p:nvSpPr>
          <p:cNvPr id="12" name="Text 9"/>
          <p:cNvSpPr/>
          <p:nvPr/>
        </p:nvSpPr>
        <p:spPr>
          <a:xfrm>
            <a:off x="8549640" y="4370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Value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321040" y="4892040"/>
            <a:ext cx="128016" cy="128016"/>
          </a:xfrm>
          <a:prstGeom prst="ellipse">
            <a:avLst/>
          </a:prstGeom>
          <a:solidFill>
            <a:srgbClr val="F76C6C"/>
          </a:solidFill>
          <a:ln/>
        </p:spPr>
      </p:sp>
      <p:sp>
        <p:nvSpPr>
          <p:cNvPr id="14" name="Text 11"/>
          <p:cNvSpPr/>
          <p:nvPr/>
        </p:nvSpPr>
        <p:spPr>
          <a:xfrm>
            <a:off x="854964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321040" y="5349240"/>
            <a:ext cx="128016" cy="128016"/>
          </a:xfrm>
          <a:prstGeom prst="ellipse">
            <a:avLst/>
          </a:prstGeom>
          <a:solidFill>
            <a:srgbClr val="F76C6C"/>
          </a:solidFill>
          <a:ln/>
        </p:spPr>
      </p:sp>
      <p:sp>
        <p:nvSpPr>
          <p:cNvPr id="16" name="Text 13"/>
          <p:cNvSpPr/>
          <p:nvPr/>
        </p:nvSpPr>
        <p:spPr>
          <a:xfrm>
            <a:off x="8549640" y="5285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321040" y="5806440"/>
            <a:ext cx="128016" cy="128016"/>
          </a:xfrm>
          <a:prstGeom prst="ellipse">
            <a:avLst/>
          </a:prstGeom>
          <a:solidFill>
            <a:srgbClr val="F76C6C"/>
          </a:solidFill>
          <a:ln/>
        </p:spPr>
      </p:sp>
      <p:sp>
        <p:nvSpPr>
          <p:cNvPr id="18" name="Text 15"/>
          <p:cNvSpPr/>
          <p:nvPr/>
        </p:nvSpPr>
        <p:spPr>
          <a:xfrm>
            <a:off x="8549640" y="5742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 Project  |  AIML Training Batch – CSE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128016"/>
          </a:xfrm>
          <a:prstGeom prst="ellipse">
            <a:avLst/>
          </a:prstGeom>
          <a:solidFill>
            <a:srgbClr val="F76C6C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•  SEGMENTATION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Natural Customer Segments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600200"/>
          <a:ext cx="70408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589520" y="1600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PROFILE PER SEGMENT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965960"/>
          <a:ext cx="4114800" cy="173736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10058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Segment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Spend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Orders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</a:rPr>
                        <a:t>Premium Customer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</a:rPr>
                        <a:t>£8,308.1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</a:rPr>
                        <a:t>15.83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</a:rPr>
                        <a:t>High Value Customer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</a:rPr>
                        <a:t>£2,914.25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</a:rPr>
                        <a:t>7.59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</a:rPr>
                        <a:t>Regular Customer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</a:rPr>
                        <a:t>£674.74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</a:rPr>
                        <a:t>2.2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</a:rPr>
                        <a:t>Low Value Customer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</a:rPr>
                        <a:t>£613.34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</a:rPr>
                        <a:t>2.13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589520" y="39319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are ranked by average spend into human-readable customer types — Low Value, Regular, High Value, and Premium.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 Project  |  AIML Training Batch – CSE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128016"/>
          </a:xfrm>
          <a:prstGeom prst="ellipse">
            <a:avLst/>
          </a:prstGeom>
          <a:solidFill>
            <a:srgbClr val="F76C6C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•  SEGMENTATION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Customer Base Breaks Down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57607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4,228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40690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675120" y="192024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EAF6F6"/>
          </a:solidFill>
          <a:ln/>
        </p:spPr>
      </p:sp>
      <p:sp>
        <p:nvSpPr>
          <p:cNvPr id="9" name="Shape 6"/>
          <p:cNvSpPr/>
          <p:nvPr/>
        </p:nvSpPr>
        <p:spPr>
          <a:xfrm>
            <a:off x="6858000" y="2148840"/>
            <a:ext cx="128016" cy="457200"/>
          </a:xfrm>
          <a:prstGeom prst="rect">
            <a:avLst/>
          </a:prstGeom>
          <a:solidFill>
            <a:srgbClr val="8FB9B9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0" y="20299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Value Customer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2,654 customers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424160" y="19202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B9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62.8%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6675120" y="297180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EAF6F6"/>
          </a:solidFill>
          <a:ln/>
        </p:spPr>
      </p:sp>
      <p:sp>
        <p:nvSpPr>
          <p:cNvPr id="14" name="Shape 11"/>
          <p:cNvSpPr/>
          <p:nvPr/>
        </p:nvSpPr>
        <p:spPr>
          <a:xfrm>
            <a:off x="6858000" y="3200400"/>
            <a:ext cx="128016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2"/>
          <p:cNvSpPr/>
          <p:nvPr/>
        </p:nvSpPr>
        <p:spPr>
          <a:xfrm>
            <a:off x="7132320" y="3081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Customer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132320" y="3429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639 customers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424160" y="29718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15.1%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6675120" y="402336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EAF6F6"/>
          </a:solidFill>
          <a:ln/>
        </p:spPr>
      </p:sp>
      <p:sp>
        <p:nvSpPr>
          <p:cNvPr id="19" name="Shape 16"/>
          <p:cNvSpPr/>
          <p:nvPr/>
        </p:nvSpPr>
        <p:spPr>
          <a:xfrm>
            <a:off x="6858000" y="4251960"/>
            <a:ext cx="128016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0" name="Text 17"/>
          <p:cNvSpPr/>
          <p:nvPr/>
        </p:nvSpPr>
        <p:spPr>
          <a:xfrm>
            <a:off x="7132320" y="41330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 Customer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132320" y="4480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761 customers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424160" y="40233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18.0%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6675120" y="507492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EAF6F6"/>
          </a:solidFill>
          <a:ln/>
        </p:spPr>
      </p:sp>
      <p:sp>
        <p:nvSpPr>
          <p:cNvPr id="24" name="Shape 21"/>
          <p:cNvSpPr/>
          <p:nvPr/>
        </p:nvSpPr>
        <p:spPr>
          <a:xfrm>
            <a:off x="6858000" y="5303520"/>
            <a:ext cx="128016" cy="457200"/>
          </a:xfrm>
          <a:prstGeom prst="rect">
            <a:avLst/>
          </a:prstGeom>
          <a:solidFill>
            <a:srgbClr val="F76C6C"/>
          </a:solidFill>
          <a:ln/>
        </p:spPr>
      </p:sp>
      <p:sp>
        <p:nvSpPr>
          <p:cNvPr id="25" name="Text 22"/>
          <p:cNvSpPr/>
          <p:nvPr/>
        </p:nvSpPr>
        <p:spPr>
          <a:xfrm>
            <a:off x="7132320" y="51846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Customer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132320" y="5532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 customers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0424160" y="50749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6C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4.1%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 Project  |  AIML Training Batch – CSE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128016"/>
          </a:xfrm>
          <a:prstGeom prst="ellipse">
            <a:avLst/>
          </a:prstGeom>
          <a:solidFill>
            <a:srgbClr val="F76C6C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•  CUSTOMER TYPE PREDICTION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a New Customer's Type Instantly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alone can only assign a new point to its nearest centroid. So the cluster labels become ground-truth, and a Random Forest classifier is trained on them — giving a real model that predicts customer type directly for new data.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was split manually — 80% training, 20% testing — using NumPy to shuffle row indices.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EAF6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46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3,382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77640" y="310896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EAF6F6"/>
          </a:solidFill>
          <a:ln/>
        </p:spPr>
      </p:sp>
      <p:sp>
        <p:nvSpPr>
          <p:cNvPr id="11" name="Text 9"/>
          <p:cNvSpPr/>
          <p:nvPr/>
        </p:nvSpPr>
        <p:spPr>
          <a:xfrm>
            <a:off x="3977640" y="3246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977640" y="3794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Samples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526280"/>
            <a:ext cx="667512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8920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98.58%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291840" y="5120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200 trees, evaluated on the held-out 20% test set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589520" y="1508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(TEST SET)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874520"/>
          <a:ext cx="4114800" cy="1828800"/>
        </p:xfrm>
        <a:graphic>
          <a:graphicData uri="http://schemas.openxmlformats.org/drawingml/2006/table">
            <a:tbl>
              <a:tblPr/>
              <a:tblGrid>
                <a:gridCol w="1188720"/>
                <a:gridCol w="731520"/>
                <a:gridCol w="731520"/>
                <a:gridCol w="731520"/>
                <a:gridCol w="7315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Actual \ Pred</a:t>
                      </a:r>
                      <a:endParaRPr lang="en-US" sz="9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Prem</a:t>
                      </a:r>
                      <a:endParaRPr lang="en-US" sz="9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Low</a:t>
                      </a:r>
                      <a:endParaRPr lang="en-US" sz="9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Reg</a:t>
                      </a:r>
                      <a:endParaRPr lang="en-US" sz="9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B34"/>
                          </a:solidFill>
                        </a:rPr>
                        <a:t>Prem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</a:rPr>
                        <a:t>37</a:t>
                      </a:r>
                      <a:endParaRPr lang="en-US" sz="11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73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73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73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B34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73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</a:rPr>
                        <a:t>518</a:t>
                      </a:r>
                      <a:endParaRPr lang="en-US" sz="11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73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73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B34"/>
                          </a:solidFill>
                        </a:rPr>
                        <a:t>Reg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73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73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</a:rPr>
                        <a:t>127</a:t>
                      </a:r>
                      <a:endParaRPr lang="en-US" sz="11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73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B34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73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73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73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</a:rPr>
                        <a:t>152</a:t>
                      </a:r>
                      <a:endParaRPr lang="en-US" sz="1100" dirty="0"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7589520" y="3794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 = Premium, Reg = Regular, High = High Value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 Project  |  AIML Training Batch – CSE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128016"/>
          </a:xfrm>
          <a:prstGeom prst="ellipse">
            <a:avLst/>
          </a:prstGeom>
          <a:solidFill>
            <a:srgbClr val="F76C6C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•  LIVE DEMO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It: Classifying New Customers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the model a few raw numbers, and it instantly returns a customer type — no need to re-run the clustering.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0EB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688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97480" y="28803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£150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97480" y="32461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6118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97480" y="36118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97764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Price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97480" y="39776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£2.5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389120"/>
            <a:ext cx="3063240" cy="0"/>
          </a:xfrm>
          <a:prstGeom prst="line">
            <a:avLst/>
          </a:prstGeom>
          <a:noFill/>
          <a:ln w="12700">
            <a:solidFill>
              <a:srgbClr val="E0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5262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TYPE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4846320"/>
            <a:ext cx="3063240" cy="548640"/>
          </a:xfrm>
          <a:prstGeom prst="roundRect">
            <a:avLst>
              <a:gd name="adj" fmla="val 50000"/>
            </a:avLst>
          </a:prstGeom>
          <a:solidFill>
            <a:srgbClr val="8FB9B9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8463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Value Customer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70248" y="219456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0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44568" y="24688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44568" y="28803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10528" y="28803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£1800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44568" y="32461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10528" y="32461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44568" y="36118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10528" y="36118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44568" y="397764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Price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10528" y="39776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44568" y="4389120"/>
            <a:ext cx="3063240" cy="0"/>
          </a:xfrm>
          <a:prstGeom prst="line">
            <a:avLst/>
          </a:prstGeom>
          <a:noFill/>
          <a:ln w="12700">
            <a:solidFill>
              <a:srgbClr val="E0EB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44568" y="45262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TYPE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44568" y="4846320"/>
            <a:ext cx="3063240" cy="54864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33" name="Text 31"/>
          <p:cNvSpPr/>
          <p:nvPr/>
        </p:nvSpPr>
        <p:spPr>
          <a:xfrm>
            <a:off x="4544568" y="48463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 Customer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8083296" y="219456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0EB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57616" y="24688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57616" y="28803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323576" y="28803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£7000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357616" y="32461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323576" y="32461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357616" y="36118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323576" y="36118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357616" y="397764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Price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323576" y="39776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£2.9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357616" y="4389120"/>
            <a:ext cx="3063240" cy="0"/>
          </a:xfrm>
          <a:prstGeom prst="line">
            <a:avLst/>
          </a:prstGeom>
          <a:noFill/>
          <a:ln w="12700">
            <a:solidFill>
              <a:srgbClr val="E0EB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57616" y="45262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TYPE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357616" y="4846320"/>
            <a:ext cx="3063240" cy="548640"/>
          </a:xfrm>
          <a:prstGeom prst="roundRect">
            <a:avLst>
              <a:gd name="adj" fmla="val 50000"/>
            </a:avLst>
          </a:prstGeom>
          <a:solidFill>
            <a:srgbClr val="F76C6C"/>
          </a:solidFill>
          <a:ln/>
        </p:spPr>
      </p:sp>
      <p:sp>
        <p:nvSpPr>
          <p:cNvPr id="47" name="Text 45"/>
          <p:cNvSpPr/>
          <p:nvPr/>
        </p:nvSpPr>
        <p:spPr>
          <a:xfrm>
            <a:off x="8357616" y="48463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Customer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 Project  |  AIML Training Batch – CSE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128016"/>
          </a:xfrm>
          <a:prstGeom prst="ellipse">
            <a:avLst/>
          </a:prstGeom>
          <a:solidFill>
            <a:srgbClr val="F76C6C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•  COUNTRY GROWTH PREDICTION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Fastest-Growing Markets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Country and InvoiceDate columns (not used in segmentation), we model monthly revenue trends per country with Linear Regression.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235000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revenue by country × month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31272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last month (partial data, would look like a fake decline)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39044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countries with ≥6 months of history, exclude UK (≈90% of revenue) — 20 countries qualify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68172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Linear Regression: revenue vs. month index; slope → % growth rate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562356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EAF6F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6235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rate is expressed as a % (slope ÷ average monthly revenue), so small and large countries can be compared fairly.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 Project  |  AIML Training Batch – CSE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128016"/>
          </a:xfrm>
          <a:prstGeom prst="ellipse">
            <a:avLst/>
          </a:prstGeom>
          <a:solidFill>
            <a:srgbClr val="F76C6C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•  COUNTRY GROWTH PREDICTION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Countries by Predicted Sales Growth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600200"/>
          <a:ext cx="758952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1600200"/>
            <a:ext cx="3474720" cy="4617720"/>
          </a:xfrm>
          <a:prstGeom prst="roundRect">
            <a:avLst>
              <a:gd name="adj" fmla="val 3158"/>
            </a:avLst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1920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FASTEST-GROWING MARKET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503920" y="2194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Norway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503920" y="28803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76C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~14%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8503920" y="3611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revenue growth per month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503920" y="4251960"/>
            <a:ext cx="292608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03920" y="4434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monthly revenue: £3,708.86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503920" y="5029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4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Switzerland and Iceland follow closely behind as the next fastest-growing markets.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 Project  |  AIML Training Batch – CSE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128016"/>
          </a:xfrm>
          <a:prstGeom prst="ellipse">
            <a:avLst/>
          </a:prstGeom>
          <a:solidFill>
            <a:srgbClr val="F76C6C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•  COUNTRY GROWTH PREDICTION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Trend — Top 3 Growing Countries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645920"/>
          <a:ext cx="114300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 Project  |  AIML Training Batch – CSE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128016"/>
          </a:xfrm>
          <a:prstGeom prst="ellipse">
            <a:avLst/>
          </a:prstGeom>
          <a:solidFill>
            <a:srgbClr val="F76C6C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Analysis Into Action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EAF6F6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920240"/>
            <a:ext cx="36576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7568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Targeted Marketing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premium offers and loyalty perks to Premium/High Value customers instead of one email to everyone.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0248" y="16916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EAF6F6"/>
          </a:solidFill>
          <a:ln/>
        </p:spPr>
      </p:sp>
      <p:sp>
        <p:nvSpPr>
          <p:cNvPr id="10" name="Shape 8"/>
          <p:cNvSpPr/>
          <p:nvPr/>
        </p:nvSpPr>
        <p:spPr>
          <a:xfrm>
            <a:off x="4498848" y="1920240"/>
            <a:ext cx="36576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498848" y="207568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Priority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498848" y="246888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retention effort on Regular/High Value customers who are worth saving, not spread evenly.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83296" y="16916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EAF6F6"/>
          </a:solidFill>
          <a:ln/>
        </p:spPr>
      </p:sp>
      <p:sp>
        <p:nvSpPr>
          <p:cNvPr id="14" name="Shape 12"/>
          <p:cNvSpPr/>
          <p:nvPr/>
        </p:nvSpPr>
        <p:spPr>
          <a:xfrm>
            <a:off x="8311896" y="1920240"/>
            <a:ext cx="365760" cy="73152"/>
          </a:xfrm>
          <a:prstGeom prst="rect">
            <a:avLst/>
          </a:prstGeom>
          <a:solidFill>
            <a:srgbClr val="F76C6C"/>
          </a:solidFill>
          <a:ln/>
        </p:spPr>
      </p:sp>
      <p:sp>
        <p:nvSpPr>
          <p:cNvPr id="15" name="Text 13"/>
          <p:cNvSpPr/>
          <p:nvPr/>
        </p:nvSpPr>
        <p:spPr>
          <a:xfrm>
            <a:off x="8311896" y="207568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Pricing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311896" y="246888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AveragePrice reveals frequent-cheap vs. rare-expensive buyers — tailor bundles accordingly.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EAF6F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4114800"/>
            <a:ext cx="36576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2702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Classification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85800" y="4663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get a value tier from just a few early transactions — no months of waiting.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70248" y="38862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EAF6F6"/>
          </a:solidFill>
          <a:ln/>
        </p:spPr>
      </p:sp>
      <p:sp>
        <p:nvSpPr>
          <p:cNvPr id="22" name="Shape 20"/>
          <p:cNvSpPr/>
          <p:nvPr/>
        </p:nvSpPr>
        <p:spPr>
          <a:xfrm>
            <a:off x="4498848" y="4114800"/>
            <a:ext cx="36576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4498848" y="42702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Targeted Expansion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498848" y="4663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marketing spend and local promotions into Norway, Switzerland, and Iceland first.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83296" y="38862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EAF6F6"/>
          </a:solidFill>
          <a:ln/>
        </p:spPr>
      </p:sp>
      <p:sp>
        <p:nvSpPr>
          <p:cNvPr id="26" name="Shape 24"/>
          <p:cNvSpPr/>
          <p:nvPr/>
        </p:nvSpPr>
        <p:spPr>
          <a:xfrm>
            <a:off x="8311896" y="4114800"/>
            <a:ext cx="365760" cy="73152"/>
          </a:xfrm>
          <a:prstGeom prst="rect">
            <a:avLst/>
          </a:prstGeom>
          <a:solidFill>
            <a:srgbClr val="F76C6C"/>
          </a:solidFill>
          <a:ln/>
        </p:spPr>
      </p:sp>
      <p:sp>
        <p:nvSpPr>
          <p:cNvPr id="27" name="Text 25"/>
          <p:cNvSpPr/>
          <p:nvPr/>
        </p:nvSpPr>
        <p:spPr>
          <a:xfrm>
            <a:off x="8311896" y="42702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Efficiency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311896" y="4663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go where they generate the most return — growth without necessarily increasing spend.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 Project  |  AIML Training Batch – CSE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657600"/>
            <a:ext cx="5029200" cy="50292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Unsupervised learning discovers customer segments, supervised learning classifies new customers instantly, and regression identifies the fastest-growing markets — turning raw transactions into decisions about marketing, retention, and expansion.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7947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4617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4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Sanvi  •  Shivansh  •  Shayan  •  Sanskar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 CSE  |  AIML Training Program  |  27 July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2026-07-26T16:49:21Z</dcterms:created>
  <dcterms:modified xsi:type="dcterms:W3CDTF">2026-07-26T16:49:21Z</dcterms:modified>
</cp:coreProperties>
</file>